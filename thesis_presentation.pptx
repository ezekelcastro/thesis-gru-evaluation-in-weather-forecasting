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91440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DB5BD"/>
                </a:solidFill>
                <a:latin typeface="Calibri"/>
              </a:rPr>
              <a:t>■  THESIS PRESENTATION  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Evaluating the Performance of
Gated Recurrent Units
for Multi-Parameter Weather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3154680"/>
            <a:ext cx="7708392" cy="36576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29184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C8E0"/>
                </a:solidFill>
                <a:latin typeface="Calibri"/>
              </a:rPr>
              <a:t>Castro, E. M.  ·  Millan, D. J. S.  ·  Mondoñedo, J. 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DB5BD"/>
                </a:solidFill>
                <a:latin typeface="Calibri"/>
              </a:rPr>
              <a:t>University of the Cordilleras  ·  College of CITCS  ·  B.S. Computer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029200"/>
            <a:ext cx="2273198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4678" y="5029200"/>
            <a:ext cx="2273198" cy="25603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7876" y="5029200"/>
            <a:ext cx="2273198" cy="2560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SimpleRNN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1075" y="5029200"/>
            <a:ext cx="2273198" cy="256032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4273" y="5029200"/>
            <a:ext cx="2273198" cy="256032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440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B5BD"/>
                </a:solidFill>
                <a:latin typeface="Calibri"/>
              </a:rPr>
              <a:t>Baguio City, Benguet, Philippines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85216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DADE8"/>
                </a:solidFill>
                <a:latin typeface="Calibri"/>
              </a:rPr>
              <a:t>🔗  thesis-gru-evaluation-in-weather-forecasting.streamlit.app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Research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" y="777240"/>
            <a:ext cx="2651760" cy="141732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D6EAF8"/>
                </a:solidFill>
                <a:latin typeface="Calibri"/>
              </a:rPr>
              <a:t>Models
Evaluated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420" y="777240"/>
            <a:ext cx="2651760" cy="1417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D6EAF8"/>
                </a:solidFill>
                <a:latin typeface="Calibri"/>
              </a:rPr>
              <a:t>Weather
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6772" y="777240"/>
            <a:ext cx="2651760" cy="1417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D6EAF8"/>
                </a:solidFill>
                <a:latin typeface="Calibri"/>
              </a:rPr>
              <a:t>Weather
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3124" y="777240"/>
            <a:ext cx="265176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5+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D6EAF8"/>
                </a:solidFill>
                <a:latin typeface="Calibri"/>
              </a:rPr>
              <a:t>Years of
Training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95728"/>
            <a:ext cx="2039112" cy="12344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ADC8E0"/>
                </a:solidFill>
                <a:latin typeface="Calibri"/>
              </a:rPr>
              <a:t>Meteostat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395728"/>
            <a:ext cx="292608" cy="12344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95728"/>
            <a:ext cx="2039112" cy="12344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PREPROCESS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ADC8E0"/>
                </a:solidFill>
                <a:latin typeface="Calibri"/>
              </a:rPr>
              <a:t>Clean · Scale · IQR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2395728"/>
            <a:ext cx="292608" cy="12344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395728"/>
            <a:ext cx="2039112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ADC8E0"/>
                </a:solidFill>
                <a:latin typeface="Calibri"/>
              </a:rPr>
              <a:t>5 ML Algorithms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4032" y="2395728"/>
            <a:ext cx="292608" cy="12344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395728"/>
            <a:ext cx="2039112" cy="123444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ADC8E0"/>
                </a:solidFill>
                <a:latin typeface="Calibri"/>
              </a:rPr>
              <a:t>MSE · MAE · R² · Acc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5752" y="2395728"/>
            <a:ext cx="292608" cy="12344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7F8C8D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2395728"/>
            <a:ext cx="2039112" cy="123444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FORECAST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ADC8E0"/>
                </a:solidFill>
                <a:latin typeface="Calibri"/>
              </a:rPr>
              <a:t>7-Day Rolling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6732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DB5BD"/>
                </a:solidFill>
                <a:latin typeface="Calibri"/>
              </a:rPr>
              <a:t>End-to-end pipeline: from raw Meteostat API data to 7-day rolling weather forecasts across two Philippine weather stations.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772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RESEARCH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C3E50"/>
                </a:solidFill>
                <a:latin typeface="Calibri"/>
              </a:rPr>
              <a:t>The Philippines is highly vulnerable to weather extremes — typhoons, monsoon flooding, and dry spells — making accurate local forecasting critical for disaster preparedness and agriculture.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089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C3E50"/>
                </a:solidFill>
                <a:latin typeface="Calibri"/>
              </a:rPr>
              <a:t>Existing comparative studies rarely benchmark multiple deep learning architectures against classical methods on Philippine station-level data across all four key meteorological variables simultaneously.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074920"/>
            <a:ext cx="6583680" cy="777240"/>
          </a:xfrm>
          <a:prstGeom prst="rect">
            <a:avLst/>
          </a:prstGeom>
          <a:solidFill>
            <a:srgbClr val="EAF0FB"/>
          </a:solidFill>
          <a:ln w="1905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F3864"/>
                </a:solidFill>
                <a:latin typeface="Calibri"/>
              </a:rPr>
              <a:t>"Does GRU outperform LSTM, SimpleRNN, Linear Regression, and ARIMA for multi-variable weather forecasting on Philippine station data?"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777240"/>
            <a:ext cx="4507992" cy="5120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914400"/>
            <a:ext cx="4233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DB5BD"/>
                </a:solidFill>
                <a:latin typeface="Calibri"/>
              </a:rPr>
              <a:t>RESEARCH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716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344168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Calibri"/>
              </a:rPr>
              <a:t>Fetch and preprocess real daily weather data
(Meteostat API, 2020–present)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2860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258568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Calibri"/>
              </a:rPr>
              <a:t>Train and evaluate GRU, LSTM, SimpleRNN,
Linear Regression, and ARIMA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2004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172968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Calibri"/>
              </a:rPr>
              <a:t>Compare models on four variables:
prcp, temp, wspd, pres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1148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087368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Calibri"/>
              </a:rPr>
              <a:t>Benchmark across two stations:
Baguio City and Manila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50292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5001768"/>
            <a:ext cx="3639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FFFFFF"/>
                </a:solidFill>
                <a:latin typeface="Calibri"/>
              </a:rPr>
              <a:t>Provide a web-based interactive system
for result exploration and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Sources &amp; Station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" y="777240"/>
            <a:ext cx="5303520" cy="64008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" y="822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Baguio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" y="11612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B5BD"/>
                </a:solidFill>
                <a:latin typeface="Calibri"/>
              </a:rPr>
              <a:t>Station ID: 98328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1417320"/>
            <a:ext cx="5303520" cy="25603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" y="15544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2C3E50"/>
                </a:solidFill>
                <a:latin typeface="Calibri"/>
              </a:rPr>
              <a:t>Luzon Cordillera region
Elevation: ~1,500 m asl
Cool, wet highland climate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3076" y="777240"/>
            <a:ext cx="5303520" cy="6400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822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Manila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11612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B5BD"/>
                </a:solidFill>
                <a:latin typeface="Calibri"/>
              </a:rPr>
              <a:t>Station ID: 98425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3076" y="1417320"/>
            <a:ext cx="5303520" cy="25603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6" y="15544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2C3E50"/>
                </a:solidFill>
                <a:latin typeface="Calibri"/>
              </a:rPr>
              <a:t>National Capital Region
Elevation: ~15 m asl
Tropical lowland climate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206240"/>
            <a:ext cx="1136599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625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Period:  January 1, 2020 — Present  (dynamic, fetched at runtime)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1075" y="4297680"/>
            <a:ext cx="4319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DB5BD"/>
                </a:solidFill>
                <a:latin typeface="Calibri"/>
              </a:rPr>
              <a:t>~2,190 daily records per station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DB5BD"/>
                </a:solidFill>
                <a:latin typeface="Calibri"/>
              </a:rPr>
              <a:t>Source:  Meteostat Open Weather API  (meteostat.net)  ·  Free, open historical meteorological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Target Meteorological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777240"/>
            <a:ext cx="2651760" cy="10058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822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Precipitation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783080"/>
            <a:ext cx="2651760" cy="34747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" y="1920240"/>
            <a:ext cx="1554480" cy="310896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313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71A3"/>
                </a:solidFill>
                <a:latin typeface="Calibri"/>
              </a:rPr>
              <a:t>Unit: mm /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65175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C3E50"/>
                </a:solidFill>
                <a:latin typeface="Calibri"/>
              </a:rPr>
              <a:t>Daily total rainfall.
Highly skewed — many zero-rain days;
extreme peaks during typhoons.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777240"/>
            <a:ext cx="265176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822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9272" y="1783080"/>
            <a:ext cx="2651760" cy="34747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67912" y="1920240"/>
            <a:ext cx="15544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313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71A3"/>
                </a:solidFill>
                <a:latin typeface="Calibri"/>
              </a:rPr>
              <a:t>Unit: 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65175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C3E50"/>
                </a:solidFill>
                <a:latin typeface="Calibri"/>
              </a:rPr>
              <a:t>Average daily air temperature.
Well-structured seasonal signal;
highly predictable.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777240"/>
            <a:ext cx="2651760" cy="10058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822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Wind 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2651760" cy="34747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1920240"/>
            <a:ext cx="1554480" cy="31089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wspd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313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71A3"/>
                </a:solidFill>
                <a:latin typeface="Calibri"/>
              </a:rPr>
              <a:t>Unit: km /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5175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C3E50"/>
                </a:solidFill>
                <a:latin typeface="Calibri"/>
              </a:rPr>
              <a:t>Mean daily wind speed.
Moderate variability;
elevated during typhoon season.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16568" y="777240"/>
            <a:ext cx="2651760" cy="10058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822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Pressure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6568" y="1783080"/>
            <a:ext cx="2651760" cy="34747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65208" y="1920240"/>
            <a:ext cx="1554480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313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71A3"/>
                </a:solidFill>
                <a:latin typeface="Calibri"/>
              </a:rPr>
              <a:t>Unit: hPa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65175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C3E50"/>
                </a:solidFill>
                <a:latin typeface="Calibri"/>
              </a:rPr>
              <a:t>Mean sea-level pressure.
Steadiest variable;
strong anti-correlation with rainfall.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Five Models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777240"/>
            <a:ext cx="2273198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4678" y="777240"/>
            <a:ext cx="2273198" cy="4114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7876" y="777240"/>
            <a:ext cx="2273198" cy="4114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SimpleRNN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1075" y="777240"/>
            <a:ext cx="2273198" cy="41148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4273" y="777240"/>
            <a:ext cx="2273198" cy="41148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216152"/>
            <a:ext cx="2273198" cy="425196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307592"/>
            <a:ext cx="20903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77B4"/>
                </a:solidFill>
                <a:latin typeface="Calibri"/>
              </a:rPr>
              <a:t>Gated Recurrent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81912"/>
            <a:ext cx="2090318" cy="658368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27632"/>
            <a:ext cx="19988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3864"/>
                </a:solidFill>
                <a:latin typeface="Calibri"/>
              </a:rPr>
              <a:t>3-layer Bidirectional · hidden=256
dropout=0.2 · epochs up to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13432"/>
            <a:ext cx="209031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2C3E50"/>
                </a:solidFill>
                <a:latin typeface="Calibri"/>
              </a:rPr>
              <a:t>Designed to handle long-range dependencies with gating mechanisms. Bidirectional context captures both past and future patterns in the sequence.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84678" y="1216152"/>
            <a:ext cx="2273198" cy="425196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6118" y="1307592"/>
            <a:ext cx="20903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F0E"/>
                </a:solidFill>
                <a:latin typeface="Calibri"/>
              </a:rPr>
              <a:t>Long Short-Term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6118" y="1581912"/>
            <a:ext cx="2090318" cy="658368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21838" y="1627632"/>
            <a:ext cx="19988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3864"/>
                </a:solidFill>
                <a:latin typeface="Calibri"/>
              </a:rPr>
              <a:t>3-layer Bidirectional · hidden=256
dropout=0.2 · epochs up to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6118" y="2313432"/>
            <a:ext cx="209031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2C3E50"/>
                </a:solidFill>
                <a:latin typeface="Calibri"/>
              </a:rPr>
              <a:t>Cell-state architecture explicitly designed to retain long-term information. Benchmark deep learning comparison for GRU.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7876" y="1216152"/>
            <a:ext cx="2273198" cy="425196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9316" y="1307592"/>
            <a:ext cx="20903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A02C"/>
                </a:solidFill>
                <a:latin typeface="Calibri"/>
              </a:rPr>
              <a:t>Simple Recurrent Neural Network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9316" y="1581912"/>
            <a:ext cx="2090318" cy="658368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5036" y="1627632"/>
            <a:ext cx="19988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3864"/>
                </a:solidFill>
                <a:latin typeface="Calibri"/>
              </a:rPr>
              <a:t>3-layer Unidirectional · hidden=256
dropout=0.2 · epochs up to 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9316" y="2313432"/>
            <a:ext cx="209031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2C3E50"/>
                </a:solidFill>
                <a:latin typeface="Calibri"/>
              </a:rPr>
              <a:t>Vanilla RNN baseline. Susceptible to vanishing gradients over long sequences. Highlights the advantage of gated architectures.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1075" y="1216152"/>
            <a:ext cx="2273198" cy="425196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2515" y="1307592"/>
            <a:ext cx="20903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62728"/>
                </a:solidFill>
                <a:latin typeface="Calibri"/>
              </a:rPr>
              <a:t>Linear Regression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2515" y="1581912"/>
            <a:ext cx="2090318" cy="658368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8235" y="1627632"/>
            <a:ext cx="19988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3864"/>
                </a:solidFill>
                <a:latin typeface="Calibri"/>
              </a:rPr>
              <a:t>Flattened sequence · multivariate
scikit-learn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2515" y="2313432"/>
            <a:ext cx="209031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2C3E50"/>
                </a:solidFill>
                <a:latin typeface="Calibri"/>
              </a:rPr>
              <a:t>Classical statistical baseline. Assumes linear relationships. Tests whether non-linear deep learning adds significant value.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4273" y="1216152"/>
            <a:ext cx="2273198" cy="425196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5713" y="1307592"/>
            <a:ext cx="20903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67BD"/>
                </a:solidFill>
                <a:latin typeface="Calibri"/>
              </a:rPr>
              <a:t>Auto-Regressive Integrated Moving Average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5713" y="1581912"/>
            <a:ext cx="2090318" cy="658368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1433" y="1627632"/>
            <a:ext cx="19988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F3864"/>
                </a:solidFill>
                <a:latin typeface="Calibri"/>
              </a:rPr>
              <a:t>auto_arima (AIC) · per-variable
pmdarima · seasonal=False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5713" y="2313432"/>
            <a:ext cx="209031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2C3E50"/>
                </a:solidFill>
                <a:latin typeface="Calibri"/>
              </a:rPr>
              <a:t>Traditional univariate time-series model. Industry standard for statistical forecasting. Fitted independently per variable.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Deep Learning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975360" cy="1463040"/>
          </a:xfrm>
          <a:prstGeom prst="rect">
            <a:avLst/>
          </a:prstGeom>
          <a:solidFill>
            <a:srgbClr val="27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
Sequence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seq_len × 4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6840" y="1234440"/>
            <a:ext cx="256032" cy="14630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2872" y="1234440"/>
            <a:ext cx="97536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BiRNN
Layer 1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hidden=256 × 2 dirs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8232" y="1234440"/>
            <a:ext cx="256032" cy="14630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4264" y="1234440"/>
            <a:ext cx="97536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BiRNN
Layer 2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dropout=0.2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1234440"/>
            <a:ext cx="256032" cy="14630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234440"/>
            <a:ext cx="97536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BiRNN
Layer 3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dropout=0.2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1016" y="1234440"/>
            <a:ext cx="256032" cy="14630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7048" y="1234440"/>
            <a:ext cx="975360" cy="146304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Dense
128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ReLU activation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2408" y="1234440"/>
            <a:ext cx="256032" cy="146304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8440" y="1234440"/>
            <a:ext cx="97536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Output
4 values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ADC8E0"/>
                </a:solidFill>
                <a:latin typeface="Calibri"/>
              </a:rPr>
              <a:t>prcp·temp·wspd·pres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0720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DB5BD"/>
                </a:solidFill>
                <a:latin typeface="Calibri"/>
              </a:rPr>
              <a:t>GRU &amp; LSTM: Bidirectional  ·  SimpleRNN: Unidirectional  ·  Early stopping patience=30  ·  Adam optimizer + ReduceLROnPlateau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777240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HYPERPARAMETERS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124712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170432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Hidden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5763" y="1170432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256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1527048"/>
            <a:ext cx="39593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572768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5763" y="1572768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2 (optimal)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1929384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1975104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Bidirectional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5763" y="1975104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GRU, LSTM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331720"/>
            <a:ext cx="39593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377440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Dropout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5763" y="2377440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0.3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34056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79776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Seq. Length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763" y="2779776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45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136392"/>
            <a:ext cx="39593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182112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Batch Size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5763" y="3182112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3538728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3584448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Max Epochs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5763" y="3584448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941064"/>
            <a:ext cx="39593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986784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Patience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95763" y="3986784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4343400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4389120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Optimizer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95763" y="4389120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Adam  (lr=1e-3)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4745736"/>
            <a:ext cx="39593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791456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LR Scheduler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5763" y="4791456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ReduceLROnPlateau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5148072"/>
            <a:ext cx="3959352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193792"/>
            <a:ext cx="2058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Loss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5763" y="5193792"/>
            <a:ext cx="166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MSE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" y="868680"/>
            <a:ext cx="2103120" cy="384048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" y="1252728"/>
            <a:ext cx="2103120" cy="77724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" y="1325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Missing Value
Imputation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" y="2029968"/>
            <a:ext cx="2103120" cy="2953512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" y="2121408"/>
            <a:ext cx="1920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2C3E50"/>
                </a:solidFill>
                <a:latin typeface="Calibri"/>
              </a:rPr>
              <a:t>Forward-fill → Backward-fill
→ Linear interpolation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4308" y="2743200"/>
            <a:ext cx="237744" cy="36576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2052" y="868680"/>
            <a:ext cx="210312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2052" y="1252728"/>
            <a:ext cx="2103120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3492" y="1325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Outlier Removal
(IQR)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2052" y="2029968"/>
            <a:ext cx="2103120" cy="2953512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3492" y="2121408"/>
            <a:ext cx="1920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2C3E50"/>
                </a:solidFill>
                <a:latin typeface="Calibri"/>
              </a:rPr>
              <a:t>Replaces values outside
Q1 − 1.5·IQR / Q3 + 1.5·IQR
Skipped for prcp
(right-skewed distribution)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5172" y="2743200"/>
            <a:ext cx="237744" cy="36576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2916" y="868680"/>
            <a:ext cx="21031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2916" y="1252728"/>
            <a:ext cx="210312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4356" y="1325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Feature Scaling
(MinMax)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2916" y="2029968"/>
            <a:ext cx="2103120" cy="2953512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4356" y="2121408"/>
            <a:ext cx="1920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2C3E50"/>
                </a:solidFill>
                <a:latin typeface="Calibri"/>
              </a:rPr>
              <a:t>Per-column MinMaxScaler
fitted on training set only
Scalers saved for
inverse-transform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6036" y="2743200"/>
            <a:ext cx="237744" cy="36576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3780" y="868680"/>
            <a:ext cx="2103120" cy="384048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3780" y="1252728"/>
            <a:ext cx="2103120" cy="77724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5220" y="1325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Train / Test
Split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3780" y="2029968"/>
            <a:ext cx="2103120" cy="2953512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5220" y="2121408"/>
            <a:ext cx="1920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2C3E50"/>
                </a:solidFill>
                <a:latin typeface="Calibri"/>
              </a:rPr>
              <a:t>80% train · 20% test
Temporal order preserved
No shuffling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6900" y="2743200"/>
            <a:ext cx="237744" cy="36576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4644" y="868680"/>
            <a:ext cx="2103120" cy="384048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24644" y="1252728"/>
            <a:ext cx="2103120" cy="77724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6084" y="1325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Sliding Window
Sequences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4644" y="2029968"/>
            <a:ext cx="2103120" cy="2953512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6084" y="2121408"/>
            <a:ext cx="1920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2C3E50"/>
                </a:solidFill>
                <a:latin typeface="Calibri"/>
              </a:rPr>
              <a:t>seq_len = 45 days
X: (N, 45, 4)
y: (N, 4)
One step ahead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Features — Interactive 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" y="777240"/>
            <a:ext cx="269748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" y="8503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📈 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" y="1280160"/>
            <a:ext cx="2697480" cy="41605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" y="141732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1F77B4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Side-by-side line charts: Actual vs. Predicted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F77B4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Separate chart per model per variable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F77B4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Both stations in one run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1F77B4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Colour-coded model legends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4700" y="777240"/>
            <a:ext cx="2697480" cy="5029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40" y="8503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📊 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4700" y="1280160"/>
            <a:ext cx="2697480" cy="41605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1860" y="141732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FF7F0E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Numeric table: MSE, MAE, R², Accuracy (%)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7F0E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Interactive bar charts — switch between metrics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7F0E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'Best Model' summary table per variable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F7F0E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Colour-coded model bars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777240"/>
            <a:ext cx="269748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8212" y="8503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🔮  Forecast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1280160"/>
            <a:ext cx="2697480" cy="41605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3932" y="141732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2CA02C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7-day rolling day-by-day forecast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2CA02C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Check-box model &amp; variable selection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2CA02C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Day-labeled table + multi-model line chart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2CA02C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Starts day after last available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8844" y="777240"/>
            <a:ext cx="2697480" cy="5029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284" y="8503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⬇️  Download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8844" y="1280160"/>
            <a:ext cx="2697480" cy="41605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6004" y="141732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9467BD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Export full results as Excel workbook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9467BD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Separate sheet per station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9467BD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Predictions &amp; metrics included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9467BD"/>
                </a:solidFill>
                <a:latin typeface="Calibri"/>
              </a:rPr>
              <a:t>▸  </a:t>
            </a:r>
            <a:r>
              <a:rPr sz="1050">
                <a:solidFill>
                  <a:srgbClr val="2C3E50"/>
                </a:solidFill>
                <a:latin typeface="Calibri"/>
              </a:rPr>
              <a:t>One-click download button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" y="777240"/>
            <a:ext cx="2651760" cy="50292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" y="868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Accuracy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" y="1280160"/>
            <a:ext cx="2651760" cy="77724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" y="1344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71A3"/>
                </a:solidFill>
                <a:latin typeface="Calibri"/>
              </a:rPr>
              <a:t>Acc = max(0,  100 − MAPE)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" y="1737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DB5BD"/>
                </a:solidFill>
                <a:latin typeface="Calibri"/>
              </a:rPr>
              <a:t>MAPE = mean |y − ŷ| / |y|  ×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" y="2057400"/>
            <a:ext cx="2651760" cy="329184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2C3E50"/>
                </a:solidFill>
                <a:latin typeface="Calibri"/>
              </a:rPr>
              <a:t>Primary interpretability metric. Intuitive percentage score. Zero-actual values excluded from MAPE to avoid division by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2132" y="777240"/>
            <a:ext cx="265176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132" y="868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2132" y="1280160"/>
            <a:ext cx="2651760" cy="77724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3572" y="1344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4A"/>
                </a:solidFill>
                <a:latin typeface="Calibri"/>
              </a:rPr>
              <a:t>MSE = (1/n) Σ (y − ŷ)²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3572" y="1737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DB5BD"/>
                </a:solidFill>
                <a:latin typeface="Calibri"/>
              </a:rPr>
              <a:t>Mean Squared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2132" y="2057400"/>
            <a:ext cx="2651760" cy="329184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9292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2C3E50"/>
                </a:solidFill>
                <a:latin typeface="Calibri"/>
              </a:rPr>
              <a:t>Penalises large errors heavily due to squaring. Sensitive to outlier predictions — relevant for extreme precipitation events.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5060" y="777240"/>
            <a:ext cx="2651760" cy="5029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5060" y="868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60" y="1280160"/>
            <a:ext cx="2651760" cy="77724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0" y="1344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D3C98"/>
                </a:solidFill>
                <a:latin typeface="Calibri"/>
              </a:rPr>
              <a:t>MAE = (1/n) Σ |y − ŷ|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1737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DB5BD"/>
                </a:solidFill>
                <a:latin typeface="Calibri"/>
              </a:rPr>
              <a:t>Mean Absolute Error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5060" y="2057400"/>
            <a:ext cx="2651760" cy="329184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2220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2C3E50"/>
                </a:solidFill>
                <a:latin typeface="Calibri"/>
              </a:rPr>
              <a:t>Robust to outliers. Directly interpretable in the original unit (mm, °C, km/h, hPa). Paired with MSE to diagnose outlier sensitivity.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7988" y="777240"/>
            <a:ext cx="26517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7988" y="868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47988" y="1280160"/>
            <a:ext cx="2651760" cy="77724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9428" y="1344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R² = 1 − Σ(y−ŷ)² / Σ(y−ȳ)²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9428" y="1737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DB5BD"/>
                </a:solidFill>
                <a:latin typeface="Calibri"/>
              </a:rPr>
              <a:t>Coefficient of Determination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7988" y="2057400"/>
            <a:ext cx="2651760" cy="3291840"/>
          </a:xfrm>
          <a:prstGeom prst="rect">
            <a:avLst/>
          </a:prstGeom>
          <a:solidFill>
            <a:srgbClr val="F4F6F7"/>
          </a:solidFill>
          <a:ln w="508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5148" y="21945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2C3E50"/>
                </a:solidFill>
                <a:latin typeface="Calibri"/>
              </a:rPr>
              <a:t>Proportion of variance explained. R²=1 is perfect; R²=0 means the model is no better than predicting the mean; negative values indicate poor 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Predictions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77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WHAT THE TAB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Line chart for each variable per station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Actual values (ground truth from test set)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Predicted values overlaid per model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Models colour-coded consistently across all charts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X-axis: date · Y-axis: physical unit (mm, °C, km/h, hPa)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Separate row per variable, enabling visual diagnosis of
where each model fails or succeeds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2627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EXPECTED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Temperature &amp; Pressure: highest accuracy across all models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Precipitation: hardest to predict — sparsity &amp; extremes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GRU / LSTM: outperform RNN and classical methods on most variables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ARIMA: competitive on smooth variables (temp, pres)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777240"/>
            <a:ext cx="7205472" cy="50749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"/>
            <a:ext cx="7205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  Sample — Precipitation (prcp)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124712"/>
            <a:ext cx="7022592" cy="2194560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216152"/>
            <a:ext cx="6931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DB5BD"/>
                </a:solidFill>
                <a:latin typeface="Calibri"/>
              </a:rPr>
              <a:t>Precipitation (mm)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438144"/>
            <a:ext cx="201168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9552" y="3438144"/>
            <a:ext cx="201168" cy="914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GRU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3438144"/>
            <a:ext cx="201168" cy="914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LSTM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3438144"/>
            <a:ext cx="201168" cy="914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RNN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0728" y="3438144"/>
            <a:ext cx="201168" cy="914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438144"/>
            <a:ext cx="201168" cy="9144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33741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  <a:latin typeface="Calibri"/>
              </a:rPr>
              <a:t>ARIMA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648456"/>
            <a:ext cx="7205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  Sample — Temperature (°C)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968496"/>
            <a:ext cx="7022592" cy="1737360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59936"/>
            <a:ext cx="6931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DB5BD"/>
                </a:solidFill>
                <a:latin typeface="Calibri"/>
              </a:rPr>
              <a:t>Temperature (°C)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797296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ADB5BD"/>
                </a:solidFill>
                <a:latin typeface="Calibri"/>
              </a:rPr>
              <a:t>[ Actual charts generated after running the analysis on the Streamlit app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Metrics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77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METRICS TAB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Numeric table: all 4 metrics × 5 models per variable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Best model highlighted per metric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Radio selector: switch chart between Accuracy / R² / MSE / MAE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Vertical bar chart — one bar per model, colour-coded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X-axis: model names · Y-axis: metric value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Separate chart panel per 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86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INTERPRETATION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70248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Calibri"/>
              </a:rPr>
              <a:t>Higher Accuracy (%) and R² → better fit
Lower MSE and MAE → smaller prediction error
Compare across models within the same variable to identify the strongest performer for each forecasting task.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777240"/>
            <a:ext cx="7205472" cy="507492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850392"/>
            <a:ext cx="7022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Accuracy (%)  —  Temperature  |  Baguio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496312"/>
            <a:ext cx="914400" cy="294436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219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77B4"/>
                </a:solidFill>
                <a:latin typeface="Calibr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477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GRU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2" y="2528316"/>
            <a:ext cx="914400" cy="291236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2539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F0E"/>
                </a:solidFill>
                <a:latin typeface="Calibri"/>
              </a:rPr>
              <a:t>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5477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LSTM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87184" y="2656332"/>
            <a:ext cx="914400" cy="278434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23820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A02C"/>
                </a:solidFill>
                <a:latin typeface="Calibri"/>
              </a:rPr>
              <a:t>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5477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RNN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7616" y="2784348"/>
            <a:ext cx="914400" cy="2656332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25100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62728"/>
                </a:solidFill>
                <a:latin typeface="Calibri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5477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2592324"/>
            <a:ext cx="914400" cy="2848356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23180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67BD"/>
                </a:solidFill>
                <a:latin typeface="Calibri"/>
              </a:rPr>
              <a:t>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5477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ARIMA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1143000"/>
            <a:ext cx="18288" cy="3611880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5440680"/>
            <a:ext cx="5029200" cy="18288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5760720"/>
            <a:ext cx="7022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DB5BD"/>
                </a:solidFill>
                <a:latin typeface="Calibri"/>
              </a:rPr>
              <a:t>[ Illustrative values — run the app for real results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7-Day Weather Forecast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77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71A3"/>
                </a:solidFill>
                <a:latin typeface="Calibri"/>
              </a:rPr>
              <a:t>  1.  </a:t>
            </a:r>
            <a:r>
              <a:rPr sz="1200">
                <a:solidFill>
                  <a:srgbClr val="2C3E50"/>
                </a:solidFill>
                <a:latin typeface="Calibri"/>
              </a:rPr>
              <a:t>Select station (Baguio / Manila)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2471A3"/>
                </a:solidFill>
                <a:latin typeface="Calibri"/>
              </a:rPr>
              <a:t>  2.  </a:t>
            </a:r>
            <a:r>
              <a:rPr sz="1200">
                <a:solidFill>
                  <a:srgbClr val="2C3E50"/>
                </a:solidFill>
                <a:latin typeface="Calibri"/>
              </a:rPr>
              <a:t>Tick the models to include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2471A3"/>
                </a:solidFill>
                <a:latin typeface="Calibri"/>
              </a:rPr>
              <a:t>  3.  </a:t>
            </a:r>
            <a:r>
              <a:rPr sz="1200">
                <a:solidFill>
                  <a:srgbClr val="2C3E50"/>
                </a:solidFill>
                <a:latin typeface="Calibri"/>
              </a:rPr>
              <a:t>Tick the variables to forecast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2471A3"/>
                </a:solidFill>
                <a:latin typeface="Calibri"/>
              </a:rPr>
              <a:t>  4.  </a:t>
            </a:r>
            <a:r>
              <a:rPr sz="1200">
                <a:solidFill>
                  <a:srgbClr val="2C3E50"/>
                </a:solidFill>
                <a:latin typeface="Calibri"/>
              </a:rPr>
              <a:t>Click Generate 7-Day Forecast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2471A3"/>
                </a:solidFill>
                <a:latin typeface="Calibri"/>
              </a:rPr>
              <a:t>  5.  </a:t>
            </a:r>
            <a:r>
              <a:rPr sz="1200">
                <a:solidFill>
                  <a:srgbClr val="2C3E50"/>
                </a:solidFill>
                <a:latin typeface="Calibri"/>
              </a:rPr>
              <a:t>View day-labeled table + multi-model 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13048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Loads scalers + model config from results cache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Initialises last 45-day window from test set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Iteratively predicts next day → appends to window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ARIMA: .update(test_vals) then .predict(7)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LR: same rolling-window inference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3864"/>
                </a:solidFill>
                <a:latin typeface="Calibri"/>
              </a:rPr>
              <a:t>●  </a:t>
            </a:r>
            <a:r>
              <a:rPr sz="1100">
                <a:solidFill>
                  <a:srgbClr val="2C3E50"/>
                </a:solidFill>
                <a:latin typeface="Calibri"/>
              </a:rPr>
              <a:t>Inverse-transforms all outputs to original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777240"/>
            <a:ext cx="633679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841248"/>
            <a:ext cx="6153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Forecast — Precipitation (mm)  |  Baguio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188720"/>
            <a:ext cx="1005840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2527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188720"/>
            <a:ext cx="1371600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52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188720"/>
            <a:ext cx="822960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252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1188720"/>
            <a:ext cx="822960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252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1188720"/>
            <a:ext cx="822960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252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1572768"/>
            <a:ext cx="100584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16367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Monday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572768"/>
            <a:ext cx="137160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36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1572768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6367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1.2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1572768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6367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0.9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1572768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6367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1.5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1956816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Tuesday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1956816"/>
            <a:ext cx="1371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1956816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4.8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956816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3.2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1956816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5.1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2340864"/>
            <a:ext cx="100584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24048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Wednesday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2340864"/>
            <a:ext cx="137160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4048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08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2340864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24048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12.3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2340864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4048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10.7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2340864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24048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11.9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0680" y="2724912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788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Thursday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724912"/>
            <a:ext cx="1371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27889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2724912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2788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2.1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41080" y="2724912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2788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1.8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2724912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2788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2.4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3108960"/>
            <a:ext cx="100584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3172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Friday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46520" y="3108960"/>
            <a:ext cx="137160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3172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3108960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0" y="3172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0.3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41080" y="3108960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3172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0.4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64040" y="3108960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3172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0.6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3493008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0" y="35570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Saturday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46520" y="3493008"/>
            <a:ext cx="1371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35570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11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3493008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35570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8.7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41080" y="3493008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86800" y="35570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7.2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64040" y="3493008"/>
            <a:ext cx="8229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09760" y="35570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9.0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40680" y="3877056"/>
            <a:ext cx="100584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0" y="39410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Sunday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46520" y="3877056"/>
            <a:ext cx="137160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39410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Jun 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18120" y="3877056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0" y="39410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77B4"/>
                </a:solidFill>
                <a:latin typeface="Calibri"/>
              </a:rPr>
              <a:t>5.4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41080" y="3877056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86800" y="39410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7F0E"/>
                </a:solidFill>
                <a:latin typeface="Calibri"/>
              </a:rPr>
              <a:t>4.9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64040" y="3877056"/>
            <a:ext cx="822960" cy="384048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09760" y="39410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67BD"/>
                </a:solidFill>
                <a:latin typeface="Calibri"/>
              </a:rPr>
              <a:t>6.1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0680" y="4334256"/>
            <a:ext cx="6336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DB5BD"/>
                </a:solidFill>
                <a:latin typeface="Calibri"/>
              </a:rPr>
              <a:t>[ Sample values for illustration — actual forecasts generated from cached model data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777240"/>
            <a:ext cx="146304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" y="777240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8229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Python 3.10+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822960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Core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89304"/>
            <a:ext cx="146304" cy="42062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" y="1289304"/>
            <a:ext cx="5399532" cy="420624"/>
          </a:xfrm>
          <a:prstGeom prst="rect">
            <a:avLst/>
          </a:prstGeom>
          <a:solidFill>
            <a:srgbClr val="F4F6F7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3350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PyTorch 2.x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335024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GRU · LSTM · SimpleRNN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01368"/>
            <a:ext cx="146304" cy="420624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" y="1801368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1847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pmdarima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847088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auto_arima — AIC, stepwise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13432"/>
            <a:ext cx="146304" cy="42062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" y="2313432"/>
            <a:ext cx="5399532" cy="420624"/>
          </a:xfrm>
          <a:prstGeom prst="rect">
            <a:avLst/>
          </a:prstGeom>
          <a:solidFill>
            <a:srgbClr val="F4F6F7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359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59152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LinearRegression · MinMaxScaler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25496"/>
            <a:ext cx="146304" cy="420624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" y="2825496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87121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Meteostat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871216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Historical daily weather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777240"/>
            <a:ext cx="146304" cy="42062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7940" y="777240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7668" y="8229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pandas · NumPy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3356" y="822960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Data wrangling &amp; array 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1289304"/>
            <a:ext cx="146304" cy="420624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7940" y="1289304"/>
            <a:ext cx="5399532" cy="420624"/>
          </a:xfrm>
          <a:prstGeom prst="rect">
            <a:avLst/>
          </a:prstGeom>
          <a:solidFill>
            <a:srgbClr val="F4F6F7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13350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3356" y="1335024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Interactive web application 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1636" y="1801368"/>
            <a:ext cx="146304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7940" y="1801368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1847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Matplotlib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3356" y="1847088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Prediction &amp; metrics charts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1636" y="2313432"/>
            <a:ext cx="146304" cy="42062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7940" y="2313432"/>
            <a:ext cx="5399532" cy="420624"/>
          </a:xfrm>
          <a:prstGeom prst="rect">
            <a:avLst/>
          </a:prstGeom>
          <a:solidFill>
            <a:srgbClr val="F4F6F7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7668" y="2359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python-docx · pptx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3356" y="2359152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Document &amp; slide generation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1636" y="2825496"/>
            <a:ext cx="146304" cy="420624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7940" y="2825496"/>
            <a:ext cx="5399532" cy="420624"/>
          </a:xfrm>
          <a:prstGeom prst="rect">
            <a:avLst/>
          </a:prstGeom>
          <a:solidFill>
            <a:srgbClr val="EAF0FB"/>
          </a:solidFill>
          <a:ln w="381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7668" y="287121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CUDA / MPS / CPU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3356" y="2871216"/>
            <a:ext cx="3168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Auto-detected GPU acceleration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474720"/>
            <a:ext cx="1136599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56616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DB5BD"/>
                </a:solidFill>
                <a:latin typeface="Calibri"/>
              </a:rPr>
              <a:t>Deployed on  Streamlit Community Cloud  ·  thesis-gru-evaluation-in-weather-forecasting.streamlit.app  ·  Source: github.com/EzekelCastro/Thesis-GRU-Evaluation-in-Weather-Forecasting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914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11112"/>
            <a:ext cx="10817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B.S. Computer Science  ·  GRU Evaluation in Weather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611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DB5BD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77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KEY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End-to-end benchmarking of 5 ML models on Philippine weather data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Station-level comparison: Baguio City (highland) vs Manila (lowland)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Four meteorological variables evaluated simultaneously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Interactive web system with live forecasting and cached results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2471A3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Precipitation IQR handling corrected — preserves typhoon-level extremes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1A3"/>
                </a:solidFill>
                <a:latin typeface="Calibri"/>
              </a:rPr>
              <a:t>EXPECTED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6791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GRU expected to outperform SimpleRNN and ARIMA on most variables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1F3864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LSTM competitive — architecture comparison between GRU and LSTM is central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1F3864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Pressure and Temperature: highest model accuracy across all architectures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1F3864"/>
                </a:solidFill>
                <a:latin typeface="Calibri"/>
              </a:rPr>
              <a:t>●  </a:t>
            </a:r>
            <a:r>
              <a:rPr sz="1200">
                <a:solidFill>
                  <a:srgbClr val="2C3E50"/>
                </a:solidFill>
                <a:latin typeface="Calibri"/>
              </a:rPr>
              <a:t>Precipitation remains the most challenging variable to forecast accurately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777240"/>
            <a:ext cx="5605272" cy="5074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914400"/>
            <a:ext cx="5239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DB5BD"/>
                </a:solidFill>
                <a:latin typeface="Calibri"/>
              </a:rPr>
              <a:t>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5239512" cy="74980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Incorporate additional stations
(Cebu, Davao, Zamboanga)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5239512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Add Transformer-based model
(Temporal Fusion Transformer)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063240"/>
            <a:ext cx="5239512" cy="74980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Seasonal decomposition as
preprocessing step for prcp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931920"/>
            <a:ext cx="5239512" cy="74980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Ensemble prediction combining
multiple model outputs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800600"/>
            <a:ext cx="5239512" cy="74980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Mobile-friendly app with
push notification forecasts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18872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DB5BD"/>
                </a:solidFill>
                <a:latin typeface="Calibri"/>
              </a:rPr>
              <a:t>■  THANK YOU  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78308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80" y="2651760"/>
            <a:ext cx="6793992" cy="36576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3464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DC8E0"/>
                </a:solidFill>
                <a:latin typeface="Calibri"/>
              </a:rPr>
              <a:t>Castro, E. M.  ·  Millan, D. J. S.  ·  Mondoñedo, J. 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9184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DB5BD"/>
                </a:solidFill>
                <a:latin typeface="Calibri"/>
              </a:rPr>
              <a:t>University of the Cordilleras  ·  College of CITCS  ·  B.S. Computer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3931920"/>
            <a:ext cx="862279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4069080"/>
            <a:ext cx="8257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ADE8"/>
                </a:solidFill>
                <a:latin typeface="Calibri"/>
              </a:rPr>
              <a:t>🔗  thesis-gru-evaluation-in-weather-forecasting.streamlit.app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4407408"/>
            <a:ext cx="8257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ADE8"/>
                </a:solidFill>
                <a:latin typeface="Calibri"/>
              </a:rPr>
              <a:t>💻  github.com/EzekelCastro/Thesis-GRU-Evaluation-in-Weather-Forecasting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303520"/>
            <a:ext cx="227319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4678" y="5303520"/>
            <a:ext cx="2273198" cy="2743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7876" y="5303520"/>
            <a:ext cx="2273198" cy="2743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SimpleRNN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1075" y="5303520"/>
            <a:ext cx="2273198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4273" y="5303520"/>
            <a:ext cx="2273198" cy="2743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11112"/>
            <a:ext cx="11365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DB5BD"/>
                </a:solidFill>
                <a:latin typeface="Calibri"/>
              </a:rPr>
              <a:t>University of the Cordilleras  ·  Baguio City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