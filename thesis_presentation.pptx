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216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914400"/>
            <a:ext cx="11365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DB5BD"/>
                </a:solidFill>
                <a:latin typeface="Calibri"/>
              </a:rPr>
              <a:t>■  THESIS PRESENTATION  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371600"/>
            <a:ext cx="1136599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Evaluating the Performance of
Gated Recurrent Units
for Multi-Parameter Weather Forecasting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240280" y="3429000"/>
            <a:ext cx="7708392" cy="45720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3584448"/>
            <a:ext cx="113659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ADC8E0"/>
                </a:solidFill>
                <a:latin typeface="Calibri"/>
              </a:rPr>
              <a:t>Castro, E</a:t>
            </a:r>
            <a:r>
              <a:rPr lang="en-PH" sz="1600" dirty="0" err="1">
                <a:solidFill>
                  <a:srgbClr val="ADC8E0"/>
                </a:solidFill>
                <a:latin typeface="Calibri"/>
              </a:rPr>
              <a:t>zekiel</a:t>
            </a:r>
            <a:r>
              <a:rPr sz="1600" b="0" i="0" dirty="0">
                <a:solidFill>
                  <a:srgbClr val="ADC8E0"/>
                </a:solidFill>
                <a:latin typeface="Calibri"/>
              </a:rPr>
              <a:t> M.  ·  Millan, D</a:t>
            </a:r>
            <a:r>
              <a:rPr lang="en-PH" sz="1600" b="0" i="0" dirty="0" err="1">
                <a:solidFill>
                  <a:srgbClr val="ADC8E0"/>
                </a:solidFill>
                <a:latin typeface="Calibri"/>
              </a:rPr>
              <a:t>evin</a:t>
            </a:r>
            <a:r>
              <a:rPr sz="1600" b="0" i="0" dirty="0">
                <a:solidFill>
                  <a:srgbClr val="ADC8E0"/>
                </a:solidFill>
                <a:latin typeface="Calibri"/>
              </a:rPr>
              <a:t> J</a:t>
            </a:r>
            <a:r>
              <a:rPr lang="en-PH" sz="1600" b="0" i="0" dirty="0" err="1">
                <a:solidFill>
                  <a:srgbClr val="ADC8E0"/>
                </a:solidFill>
                <a:latin typeface="Calibri"/>
              </a:rPr>
              <a:t>oshua</a:t>
            </a:r>
            <a:r>
              <a:rPr sz="1600" b="0" i="0" dirty="0">
                <a:solidFill>
                  <a:srgbClr val="ADC8E0"/>
                </a:solidFill>
                <a:latin typeface="Calibri"/>
              </a:rPr>
              <a:t> S.  ·  </a:t>
            </a:r>
            <a:r>
              <a:rPr sz="1600" b="0" i="0" dirty="0" err="1">
                <a:solidFill>
                  <a:srgbClr val="ADC8E0"/>
                </a:solidFill>
                <a:latin typeface="Calibri"/>
              </a:rPr>
              <a:t>Mondoñedo</a:t>
            </a:r>
            <a:r>
              <a:rPr sz="1600" b="0" i="0" dirty="0">
                <a:solidFill>
                  <a:srgbClr val="ADC8E0"/>
                </a:solidFill>
                <a:latin typeface="Calibri"/>
              </a:rPr>
              <a:t>, J</a:t>
            </a:r>
            <a:r>
              <a:rPr lang="en-PH" sz="1600" b="0" i="0" dirty="0">
                <a:solidFill>
                  <a:srgbClr val="ADC8E0"/>
                </a:solidFill>
                <a:latin typeface="Calibri"/>
              </a:rPr>
              <a:t>eric</a:t>
            </a:r>
            <a:r>
              <a:rPr sz="1600" b="0" i="0" dirty="0">
                <a:solidFill>
                  <a:srgbClr val="ADC8E0"/>
                </a:solidFill>
                <a:latin typeface="Calibri"/>
              </a:rPr>
              <a:t> 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59936"/>
            <a:ext cx="113659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ADB5BD"/>
                </a:solidFill>
                <a:latin typeface="Calibri"/>
              </a:rPr>
              <a:t>University of the Cordilleras  ·  CITCS  ·  B.S. Computer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074920"/>
            <a:ext cx="2273198" cy="32004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GRU</a:t>
            </a:r>
          </a:p>
        </p:txBody>
      </p:sp>
      <p:sp>
        <p:nvSpPr>
          <p:cNvPr id="8" name="Rectangle 7"/>
          <p:cNvSpPr/>
          <p:nvPr/>
        </p:nvSpPr>
        <p:spPr>
          <a:xfrm>
            <a:off x="2684678" y="5074920"/>
            <a:ext cx="2273198" cy="320040"/>
          </a:xfrm>
          <a:prstGeom prst="rect">
            <a:avLst/>
          </a:prstGeom>
          <a:solidFill>
            <a:srgbClr val="FF7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LSTM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7876" y="5074920"/>
            <a:ext cx="2273198" cy="32004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SimpleRNN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1075" y="5074920"/>
            <a:ext cx="2273198" cy="32004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Linear Regression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4273" y="5074920"/>
            <a:ext cx="2273198" cy="320040"/>
          </a:xfrm>
          <a:prstGeom prst="rect">
            <a:avLst/>
          </a:prstGeom>
          <a:solidFill>
            <a:srgbClr val="946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ARIMA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5321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DB5BD"/>
                </a:solidFill>
                <a:latin typeface="Calibri"/>
              </a:rPr>
              <a:t>Baguio City, Benguet, Philippines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94360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DADE8"/>
                </a:solidFill>
                <a:latin typeface="Calibri"/>
              </a:rPr>
              <a:t>🔗  thesis-gru-evaluation-in-weather-forecasting.streamlit.app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Research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" y="859536"/>
            <a:ext cx="2651760" cy="1554480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</a:t>
            </a:r>
          </a:p>
          <a:p>
            <a:pPr algn="ctr">
              <a:spcBef>
                <a:spcPts val="400"/>
              </a:spcBef>
            </a:pPr>
            <a:r>
              <a:rPr sz="1300" b="1" i="0">
                <a:solidFill>
                  <a:srgbClr val="D6EAF8"/>
                </a:solidFill>
                <a:latin typeface="Calibri"/>
              </a:rPr>
              <a:t>Models
Evaluated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0420" y="859536"/>
            <a:ext cx="2651760" cy="155448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300" b="1" i="0">
                <a:solidFill>
                  <a:srgbClr val="D6EAF8"/>
                </a:solidFill>
                <a:latin typeface="Calibri"/>
              </a:rPr>
              <a:t>Weather
Variables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6772" y="859536"/>
            <a:ext cx="2651760" cy="155448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300" b="1" i="0">
                <a:solidFill>
                  <a:srgbClr val="D6EAF8"/>
                </a:solidFill>
                <a:latin typeface="Calibri"/>
              </a:rPr>
              <a:t>Weather
Stations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3124" y="859536"/>
            <a:ext cx="2651760" cy="1554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5+</a:t>
            </a:r>
          </a:p>
          <a:p>
            <a:pPr algn="ctr">
              <a:spcBef>
                <a:spcPts val="400"/>
              </a:spcBef>
            </a:pPr>
            <a:r>
              <a:rPr sz="1300" b="1" i="0">
                <a:solidFill>
                  <a:srgbClr val="D6EAF8"/>
                </a:solidFill>
                <a:latin typeface="Calibri"/>
              </a:rPr>
              <a:t>Years of
Training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642616"/>
            <a:ext cx="2039112" cy="137160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DATA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ADC8E0"/>
                </a:solidFill>
                <a:latin typeface="Calibri"/>
              </a:rPr>
              <a:t>Meteostat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50592" y="2642616"/>
            <a:ext cx="292608" cy="137160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 i="0">
                <a:solidFill>
                  <a:srgbClr val="7F8C8D"/>
                </a:solidFill>
                <a:latin typeface="Calibri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642616"/>
            <a:ext cx="2039112" cy="13716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PREPROCESS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ADC8E0"/>
                </a:solidFill>
                <a:latin typeface="Calibri"/>
              </a:rPr>
              <a:t>Clean · Scale · IQR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2642616"/>
            <a:ext cx="292608" cy="137160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 i="0">
                <a:solidFill>
                  <a:srgbClr val="7F8C8D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2642616"/>
            <a:ext cx="2039112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MODELS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ADC8E0"/>
                </a:solidFill>
                <a:latin typeface="Calibri"/>
              </a:rPr>
              <a:t>5 ML Algorithms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14032" y="2642616"/>
            <a:ext cx="292608" cy="137160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 i="0">
                <a:solidFill>
                  <a:srgbClr val="7F8C8D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642616"/>
            <a:ext cx="2039112" cy="1371600"/>
          </a:xfrm>
          <a:prstGeom prst="rect">
            <a:avLst/>
          </a:prstGeom>
          <a:solidFill>
            <a:srgbClr val="4A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EVALUATE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ADC8E0"/>
                </a:solidFill>
                <a:latin typeface="Calibri"/>
              </a:rPr>
              <a:t>MSE · MAE · R² · Acc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45752" y="2642616"/>
            <a:ext cx="292608" cy="137160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 i="0">
                <a:solidFill>
                  <a:srgbClr val="7F8C8D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38360" y="2642616"/>
            <a:ext cx="2039112" cy="1371600"/>
          </a:xfrm>
          <a:prstGeom prst="rect">
            <a:avLst/>
          </a:prstGeom>
          <a:solidFill>
            <a:srgbClr val="14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FORECAST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ADC8E0"/>
                </a:solidFill>
                <a:latin typeface="Calibri"/>
              </a:rPr>
              <a:t>7-Day Rolling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78808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ADB5BD"/>
                </a:solidFill>
                <a:latin typeface="Calibri"/>
              </a:rPr>
              <a:t>End-to-end pipeline: from raw Meteostat API data to 7-day rolling weather forecasts across two Philippine weather stations.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Problem Statement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59536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RESEARCH BACKGROUND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98448"/>
            <a:ext cx="658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2C3E50"/>
                </a:solidFill>
                <a:latin typeface="Calibri"/>
              </a:rPr>
              <a:t>The Philippines is highly vulnerable to weather extremes — typhoons, monsoon flooding, and dry spells — making accurate local forecasting critical for disaster preparedness and agriculture.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282696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RESEARCH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712464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2C3E50"/>
                </a:solidFill>
                <a:latin typeface="Calibri"/>
              </a:rPr>
              <a:t>Existing comparative studies rarely benchmark multiple deep learning architectures against classical methods on Philippine station-level data across all four key meteorological variables simultaneously.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321808"/>
            <a:ext cx="6583680" cy="822960"/>
          </a:xfrm>
          <a:prstGeom prst="rect">
            <a:avLst/>
          </a:prstGeom>
          <a:solidFill>
            <a:srgbClr val="EAF0FB"/>
          </a:solidFill>
          <a:ln w="19050">
            <a:solidFill>
              <a:srgbClr val="247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5413248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F3864"/>
                </a:solidFill>
                <a:latin typeface="Calibri"/>
              </a:rPr>
              <a:t>"Does GRU outperform LSTM, SimpleRNN, Linear Regression, and ARIMA for multi-variable weather forecasting on Philippine station data?"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859536"/>
            <a:ext cx="4507992" cy="51206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52360" y="1024128"/>
            <a:ext cx="4233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DB5BD"/>
                </a:solidFill>
                <a:latin typeface="Calibri"/>
              </a:rPr>
              <a:t>RESEARCH OBJECTIVES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1517904"/>
            <a:ext cx="420624" cy="42062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82712" y="1490472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Fetch and preprocess real daily weather data
(Meteostat API, 2020–present)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2432304"/>
            <a:ext cx="420624" cy="42062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2404872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Train and evaluate GRU, LSTM, SimpleRNN,
Linear Regression, and ARIMA models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2360" y="3346704"/>
            <a:ext cx="420624" cy="42062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82712" y="3319272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Compare models on four variables:
prcp, temp, wspd, pres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4261104"/>
            <a:ext cx="420624" cy="42062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2712" y="4233672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Benchmark across two stations:
Baguio City and Manila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52360" y="5175504"/>
            <a:ext cx="420624" cy="42062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2712" y="5148072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Provide a web-based interactive system
for result exploration and forecasting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 Sources &amp; Station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356" y="859536"/>
            <a:ext cx="5303520" cy="749808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5236" y="9144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Baguio 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" y="133502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B5BD"/>
                </a:solidFill>
                <a:latin typeface="Calibri"/>
              </a:rPr>
              <a:t>Station ID: 98328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1609344"/>
            <a:ext cx="5303520" cy="2542032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8" y="1792224"/>
            <a:ext cx="4791456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2C3E50"/>
                </a:solidFill>
                <a:latin typeface="Calibri"/>
              </a:rPr>
              <a:t>Luzon Cordillera region
Elevation: ~1,500 m asl
Cool, wet highland climate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3076" y="859536"/>
            <a:ext cx="5303520" cy="749808"/>
          </a:xfrm>
          <a:prstGeom prst="rect">
            <a:avLst/>
          </a:prstGeom>
          <a:solidFill>
            <a:srgbClr val="4A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5956" y="9144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Manila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5956" y="133502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B5BD"/>
                </a:solidFill>
                <a:latin typeface="Calibri"/>
              </a:rPr>
              <a:t>Station ID: 98425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3076" y="1609344"/>
            <a:ext cx="5303520" cy="2542032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79108" y="1792224"/>
            <a:ext cx="4791456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2C3E50"/>
                </a:solidFill>
                <a:latin typeface="Calibri"/>
              </a:rPr>
              <a:t>National Capital Region
Elevation: ~15 m asl
Tropical lowland climate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407408"/>
            <a:ext cx="11365992" cy="8046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517136"/>
            <a:ext cx="6251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Data Period:  January 1, 2020 — Present  (dynamic, fetched at runtime)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1075" y="4517136"/>
            <a:ext cx="431907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ADB5BD"/>
                </a:solidFill>
                <a:latin typeface="Calibri"/>
              </a:rPr>
              <a:t>~2,190 daily records per station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340096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ADB5BD"/>
                </a:solidFill>
                <a:latin typeface="Calibri"/>
              </a:rPr>
              <a:t>Source:  Meteostat Open Weather API  (meteostat.net)  ·  Free, open historical meteorological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Target Meteorological Variables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859536"/>
            <a:ext cx="2651760" cy="1115568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0624" y="905256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151790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Precipitation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1975104"/>
            <a:ext cx="2651760" cy="3364992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23544" y="2139696"/>
            <a:ext cx="1645920" cy="347472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prcp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257860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471A3"/>
                </a:solidFill>
                <a:latin typeface="Calibri"/>
              </a:rPr>
              <a:t>Unit: mm /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2962656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C3E50"/>
                </a:solidFill>
                <a:latin typeface="Calibri"/>
              </a:rPr>
              <a:t>Daily total rainfall.
Highly skewed — many zero-rain days;
extreme peaks during typhoons.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9272" y="859536"/>
            <a:ext cx="2651760" cy="11155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19272" y="905256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151790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Temperature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9272" y="1975104"/>
            <a:ext cx="2651760" cy="3364992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822192" y="2139696"/>
            <a:ext cx="164592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tavg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257860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471A3"/>
                </a:solidFill>
                <a:latin typeface="Calibri"/>
              </a:rPr>
              <a:t>Unit: 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2962656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C3E50"/>
                </a:solidFill>
                <a:latin typeface="Calibri"/>
              </a:rPr>
              <a:t>Average daily air temperature.
Well-structured seasonal signal;
highly predictable.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859536"/>
            <a:ext cx="2651760" cy="11155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0" y="905256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51790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Wind Speed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975104"/>
            <a:ext cx="2651760" cy="3364992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720840" y="2139696"/>
            <a:ext cx="16459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wspd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57860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471A3"/>
                </a:solidFill>
                <a:latin typeface="Calibri"/>
              </a:rPr>
              <a:t>Unit: km / 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962656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C3E50"/>
                </a:solidFill>
                <a:latin typeface="Calibri"/>
              </a:rPr>
              <a:t>Mean daily wind speed.
Moderate variability;
elevated during typhoon season.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16568" y="859536"/>
            <a:ext cx="2651760" cy="111556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16568" y="905256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6568" y="151790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Pressure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16568" y="1975104"/>
            <a:ext cx="2651760" cy="3364992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619488" y="2139696"/>
            <a:ext cx="1645920" cy="347472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pres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57860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471A3"/>
                </a:solidFill>
                <a:latin typeface="Calibri"/>
              </a:rPr>
              <a:t>Unit: hPa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2962656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C3E50"/>
                </a:solidFill>
                <a:latin typeface="Calibri"/>
              </a:rPr>
              <a:t>Mean sea-level pressure.
Steadiest variable;
strong anti-correlation with rainfall.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Five Models Compared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59536"/>
            <a:ext cx="2273198" cy="4572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GRU</a:t>
            </a:r>
          </a:p>
        </p:txBody>
      </p:sp>
      <p:sp>
        <p:nvSpPr>
          <p:cNvPr id="9" name="Rectangle 8"/>
          <p:cNvSpPr/>
          <p:nvPr/>
        </p:nvSpPr>
        <p:spPr>
          <a:xfrm>
            <a:off x="2684678" y="859536"/>
            <a:ext cx="2273198" cy="457200"/>
          </a:xfrm>
          <a:prstGeom prst="rect">
            <a:avLst/>
          </a:prstGeom>
          <a:solidFill>
            <a:srgbClr val="FF7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LSTM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7876" y="859536"/>
            <a:ext cx="2273198" cy="45720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SimpleRNN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31075" y="859536"/>
            <a:ext cx="2273198" cy="4572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Linear Regression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4273" y="859536"/>
            <a:ext cx="2273198" cy="457200"/>
          </a:xfrm>
          <a:prstGeom prst="rect">
            <a:avLst/>
          </a:prstGeom>
          <a:solidFill>
            <a:srgbClr val="946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ARIMA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335024"/>
            <a:ext cx="2273198" cy="4206240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1426464"/>
            <a:ext cx="20903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77B4"/>
                </a:solidFill>
                <a:latin typeface="Calibri"/>
              </a:rPr>
              <a:t>Gated Recurrent Unit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737360"/>
            <a:ext cx="2090318" cy="749808"/>
          </a:xfrm>
          <a:prstGeom prst="rect">
            <a:avLst/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1792224"/>
            <a:ext cx="199887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F3864"/>
                </a:solidFill>
                <a:latin typeface="Calibri"/>
              </a:rPr>
              <a:t>2-layer Bidirectional · hidden=256
dropout=0.3 · epochs up to 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560320"/>
            <a:ext cx="209031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2C3E50"/>
                </a:solidFill>
                <a:latin typeface="Calibri"/>
              </a:rPr>
              <a:t>Designed to handle long-range dependencies with gating mechanisms. Bidirectional context captures both past and future patterns in the sequence.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84678" y="1335024"/>
            <a:ext cx="2273198" cy="4206240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76118" y="1426464"/>
            <a:ext cx="20903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7F0E"/>
                </a:solidFill>
                <a:latin typeface="Calibri"/>
              </a:rPr>
              <a:t>Long Short-Term 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76118" y="1737360"/>
            <a:ext cx="2090318" cy="749808"/>
          </a:xfrm>
          <a:prstGeom prst="rect">
            <a:avLst/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21838" y="1792224"/>
            <a:ext cx="199887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F3864"/>
                </a:solidFill>
                <a:latin typeface="Calibri"/>
              </a:rPr>
              <a:t>2-layer Bidirectional · hidden=256
dropout=0.3 · epochs up to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6118" y="2560320"/>
            <a:ext cx="209031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2C3E50"/>
                </a:solidFill>
                <a:latin typeface="Calibri"/>
              </a:rPr>
              <a:t>Cell-state architecture explicitly designed to retain long-term information. Benchmark deep learning comparison for GRU.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57876" y="1335024"/>
            <a:ext cx="2273198" cy="4206240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49316" y="1426464"/>
            <a:ext cx="20903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A02C"/>
                </a:solidFill>
                <a:latin typeface="Calibri"/>
              </a:rPr>
              <a:t>Simple Recurrent Neural Network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49316" y="1737360"/>
            <a:ext cx="2090318" cy="749808"/>
          </a:xfrm>
          <a:prstGeom prst="rect">
            <a:avLst/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95036" y="1792224"/>
            <a:ext cx="199887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F3864"/>
                </a:solidFill>
                <a:latin typeface="Calibri"/>
              </a:rPr>
              <a:t>2-layer Unidirectional · hidden=256
dropout=0.3 · epochs up to 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9316" y="2560320"/>
            <a:ext cx="209031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2C3E50"/>
                </a:solidFill>
                <a:latin typeface="Calibri"/>
              </a:rPr>
              <a:t>Vanilla RNN baseline. Susceptible to vanishing gradients over long sequences. Highlights the advantage of gated architectures.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31075" y="1335024"/>
            <a:ext cx="2273198" cy="4206240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22515" y="1426464"/>
            <a:ext cx="20903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62728"/>
                </a:solidFill>
                <a:latin typeface="Calibri"/>
              </a:rPr>
              <a:t>Linear Regression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22515" y="1737360"/>
            <a:ext cx="2090318" cy="749808"/>
          </a:xfrm>
          <a:prstGeom prst="rect">
            <a:avLst/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68235" y="1792224"/>
            <a:ext cx="199887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F3864"/>
                </a:solidFill>
                <a:latin typeface="Calibri"/>
              </a:rPr>
              <a:t>Flattened sequence · multivariate
scikit-learn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15" y="2560320"/>
            <a:ext cx="209031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2C3E50"/>
                </a:solidFill>
                <a:latin typeface="Calibri"/>
              </a:rPr>
              <a:t>Classical statistical baseline. Assumes linear relationships. Tests whether non-linear deep learning adds significant value.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4273" y="1335024"/>
            <a:ext cx="2273198" cy="4206240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95713" y="1426464"/>
            <a:ext cx="20903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1050" b="1" i="0" dirty="0">
                <a:solidFill>
                  <a:srgbClr val="9467BD"/>
                </a:solidFill>
                <a:latin typeface="Calibri"/>
              </a:rPr>
              <a:t>ARIMA</a:t>
            </a:r>
            <a:endParaRPr sz="1050" b="1" i="0" dirty="0">
              <a:solidFill>
                <a:srgbClr val="9467BD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595713" y="1737360"/>
            <a:ext cx="2090318" cy="749808"/>
          </a:xfrm>
          <a:prstGeom prst="rect">
            <a:avLst/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641433" y="1792224"/>
            <a:ext cx="19988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1F3864"/>
                </a:solidFill>
                <a:latin typeface="Calibri"/>
              </a:rPr>
              <a:t>auto_arima</a:t>
            </a:r>
            <a:r>
              <a:rPr sz="1000" b="0" i="1" dirty="0">
                <a:solidFill>
                  <a:srgbClr val="1F3864"/>
                </a:solidFill>
                <a:latin typeface="Calibri"/>
              </a:rPr>
              <a:t> (AIC) · per-variable
</a:t>
            </a:r>
            <a:r>
              <a:rPr sz="1000" b="0" i="1" dirty="0" err="1">
                <a:solidFill>
                  <a:srgbClr val="1F3864"/>
                </a:solidFill>
                <a:latin typeface="Calibri"/>
              </a:rPr>
              <a:t>pmdarima</a:t>
            </a:r>
            <a:r>
              <a:rPr sz="1000" b="0" i="1" dirty="0">
                <a:solidFill>
                  <a:srgbClr val="1F3864"/>
                </a:solidFill>
                <a:latin typeface="Calibri"/>
              </a:rPr>
              <a:t> · seasonal=False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5713" y="2560320"/>
            <a:ext cx="209031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 dirty="0">
                <a:solidFill>
                  <a:srgbClr val="2C3E50"/>
                </a:solidFill>
                <a:latin typeface="Calibri"/>
              </a:rPr>
              <a:t>Traditional univariate time-series model. Industry standard for statistical forecasting. Fitted independently per variable.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Deep Learning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71016"/>
            <a:ext cx="1221638" cy="1572768"/>
          </a:xfrm>
          <a:prstGeom prst="rect">
            <a:avLst/>
          </a:prstGeom>
          <a:solidFill>
            <a:srgbClr val="276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Input
Sequence</a:t>
            </a:r>
          </a:p>
          <a:p>
            <a:pPr algn="ctr">
              <a:spcBef>
                <a:spcPts val="400"/>
              </a:spcBef>
            </a:pPr>
            <a:r>
              <a:rPr sz="1050" b="0" i="0">
                <a:solidFill>
                  <a:srgbClr val="ADC8E0"/>
                </a:solidFill>
                <a:latin typeface="Calibri"/>
              </a:rPr>
              <a:t>seq_len × 4 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633118" y="1271016"/>
            <a:ext cx="256032" cy="157276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 i="0">
                <a:solidFill>
                  <a:srgbClr val="2C3E50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9150" y="1271016"/>
            <a:ext cx="1221638" cy="15727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BiRNN
Layer 1</a:t>
            </a:r>
          </a:p>
          <a:p>
            <a:pPr algn="ctr">
              <a:spcBef>
                <a:spcPts val="400"/>
              </a:spcBef>
            </a:pPr>
            <a:r>
              <a:rPr sz="1050" b="0" i="0">
                <a:solidFill>
                  <a:srgbClr val="ADC8E0"/>
                </a:solidFill>
                <a:latin typeface="Calibri"/>
              </a:rPr>
              <a:t>hidden=256 × 2 dirs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10788" y="1271016"/>
            <a:ext cx="256032" cy="157276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 i="0">
                <a:solidFill>
                  <a:srgbClr val="2C3E50"/>
                </a:solidFill>
                <a:latin typeface="Calibri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6820" y="1271016"/>
            <a:ext cx="1221638" cy="15727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BiRNN
Layer 2</a:t>
            </a:r>
          </a:p>
          <a:p>
            <a:pPr algn="ctr">
              <a:spcBef>
                <a:spcPts val="400"/>
              </a:spcBef>
            </a:pPr>
            <a:r>
              <a:rPr sz="1050" b="0" i="0">
                <a:solidFill>
                  <a:srgbClr val="ADC8E0"/>
                </a:solidFill>
                <a:latin typeface="Calibri"/>
              </a:rPr>
              <a:t>dropout=0.3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88459" y="1271016"/>
            <a:ext cx="256032" cy="157276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 i="0">
                <a:solidFill>
                  <a:srgbClr val="2C3E50"/>
                </a:solidFill>
                <a:latin typeface="Calibri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4491" y="1271016"/>
            <a:ext cx="1221638" cy="1572768"/>
          </a:xfrm>
          <a:prstGeom prst="rect">
            <a:avLst/>
          </a:prstGeom>
          <a:solidFill>
            <a:srgbClr val="4A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Dense
128</a:t>
            </a:r>
          </a:p>
          <a:p>
            <a:pPr algn="ctr">
              <a:spcBef>
                <a:spcPts val="400"/>
              </a:spcBef>
            </a:pPr>
            <a:r>
              <a:rPr sz="1050" b="0" i="0">
                <a:solidFill>
                  <a:srgbClr val="ADC8E0"/>
                </a:solidFill>
                <a:latin typeface="Calibri"/>
              </a:rPr>
              <a:t>ReLU activation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6129" y="1271016"/>
            <a:ext cx="256032" cy="157276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 i="0">
                <a:solidFill>
                  <a:srgbClr val="2C3E50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2161" y="1271016"/>
            <a:ext cx="1221638" cy="15727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Output
4 values</a:t>
            </a:r>
          </a:p>
          <a:p>
            <a:pPr algn="ctr">
              <a:spcBef>
                <a:spcPts val="400"/>
              </a:spcBef>
            </a:pPr>
            <a:r>
              <a:rPr sz="1050" b="0" i="0">
                <a:solidFill>
                  <a:srgbClr val="ADC8E0"/>
                </a:solidFill>
                <a:latin typeface="Calibri"/>
              </a:rPr>
              <a:t>prcp·temp·wspd·pres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980944"/>
            <a:ext cx="7132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ADB5BD"/>
                </a:solidFill>
                <a:latin typeface="Calibri"/>
              </a:rPr>
              <a:t>GRU &amp; LSTM: Bidirectional  ·  SimpleRNN: Unidirectional  ·  Early stopping patience=30  ·  Adam optimizer + ReduceLROnPlateau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859536"/>
            <a:ext cx="3959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HYPERPARAMETERS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1243584"/>
            <a:ext cx="3959352" cy="402336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09560" y="1298448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Hidden 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95763" y="1298448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256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1664208"/>
            <a:ext cx="395935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09560" y="1719072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Layers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5763" y="1719072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2 (optimal)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2084832"/>
            <a:ext cx="3959352" cy="402336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09560" y="2139696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Bidirectional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95763" y="2139696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GRU, LSTM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2505456"/>
            <a:ext cx="395935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09560" y="2560320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Dropout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95763" y="2560320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0.3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2926080"/>
            <a:ext cx="3959352" cy="402336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09560" y="2980944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Seq. Length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95763" y="2980944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45 days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3346704"/>
            <a:ext cx="395935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09560" y="3401568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Batch 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95763" y="3401568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3767328"/>
            <a:ext cx="3959352" cy="402336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909560" y="3822192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Max Epochs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763" y="3822192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200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18120" y="4187952"/>
            <a:ext cx="395935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09560" y="4242816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Patience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95763" y="4242816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30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18120" y="4608576"/>
            <a:ext cx="3959352" cy="402336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09560" y="4663440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Optimizer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95763" y="4663440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Adam  (lr=1e-3)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18120" y="5029200"/>
            <a:ext cx="395935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909560" y="5084064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LR Scheduler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95763" y="5084064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ReduceLROnPlateau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20" y="5449824"/>
            <a:ext cx="3959352" cy="402336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909560" y="5504688"/>
            <a:ext cx="20588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Loss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95763" y="5504688"/>
            <a:ext cx="16629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MSE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 Preprocessing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" y="969264"/>
            <a:ext cx="2103120" cy="420624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" y="1389888"/>
            <a:ext cx="2103120" cy="86868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" y="1472184"/>
            <a:ext cx="1920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Missing Value
Imputation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" y="2258568"/>
            <a:ext cx="2103120" cy="2825496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" y="2359152"/>
            <a:ext cx="1920240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0">
                <a:solidFill>
                  <a:srgbClr val="2C3E50"/>
                </a:solidFill>
                <a:latin typeface="Calibri"/>
              </a:rPr>
              <a:t>Forward-fill → Backward-fill
→ Linear interpolation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4308" y="2825496"/>
            <a:ext cx="237744" cy="402336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 i="0">
                <a:solidFill>
                  <a:srgbClr val="2C3E50"/>
                </a:solidFill>
                <a:latin typeface="Calibri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02052" y="969264"/>
            <a:ext cx="2103120" cy="420624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02052" y="1389888"/>
            <a:ext cx="2103120" cy="86868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93492" y="1472184"/>
            <a:ext cx="1920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Outlier Removal
(IQR)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02052" y="2258568"/>
            <a:ext cx="2103120" cy="2825496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93492" y="2359152"/>
            <a:ext cx="1920240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0">
                <a:solidFill>
                  <a:srgbClr val="2C3E50"/>
                </a:solidFill>
                <a:latin typeface="Calibri"/>
              </a:rPr>
              <a:t>Replaces values outside
Q1 − 1.5·IQR / Q3 + 1.5·IQR
Skipped for prcp
(right-skewed distribution)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05172" y="2825496"/>
            <a:ext cx="237744" cy="402336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 i="0">
                <a:solidFill>
                  <a:srgbClr val="2C3E50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2916" y="969264"/>
            <a:ext cx="2103120" cy="42062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42916" y="1389888"/>
            <a:ext cx="2103120" cy="8686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34356" y="1472184"/>
            <a:ext cx="1920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Feature Scaling
(MinMax)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2916" y="2258568"/>
            <a:ext cx="2103120" cy="2825496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34356" y="2359152"/>
            <a:ext cx="1920240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0">
                <a:solidFill>
                  <a:srgbClr val="2C3E50"/>
                </a:solidFill>
                <a:latin typeface="Calibri"/>
              </a:rPr>
              <a:t>Per-column MinMaxScaler
fitted on training set only
Scalers saved for
inverse-transform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46036" y="2825496"/>
            <a:ext cx="237744" cy="402336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 i="0">
                <a:solidFill>
                  <a:srgbClr val="2C3E50"/>
                </a:solidFill>
                <a:latin typeface="Calibri"/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83780" y="969264"/>
            <a:ext cx="2103120" cy="420624"/>
          </a:xfrm>
          <a:prstGeom prst="rect">
            <a:avLst/>
          </a:prstGeom>
          <a:solidFill>
            <a:srgbClr val="4A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83780" y="1389888"/>
            <a:ext cx="2103120" cy="868680"/>
          </a:xfrm>
          <a:prstGeom prst="rect">
            <a:avLst/>
          </a:prstGeom>
          <a:solidFill>
            <a:srgbClr val="4A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75220" y="1472184"/>
            <a:ext cx="1920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Train / Test
Split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83780" y="2258568"/>
            <a:ext cx="2103120" cy="2825496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75220" y="2359152"/>
            <a:ext cx="1920240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0">
                <a:solidFill>
                  <a:srgbClr val="2C3E50"/>
                </a:solidFill>
                <a:latin typeface="Calibri"/>
              </a:rPr>
              <a:t>80% train · 20% test
Temporal order preserved
No shuffling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86900" y="2825496"/>
            <a:ext cx="237744" cy="402336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 i="0">
                <a:solidFill>
                  <a:srgbClr val="2C3E50"/>
                </a:solidFill>
                <a:latin typeface="Calibri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24644" y="969264"/>
            <a:ext cx="2103120" cy="420624"/>
          </a:xfrm>
          <a:prstGeom prst="rect">
            <a:avLst/>
          </a:prstGeom>
          <a:solidFill>
            <a:srgbClr val="14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24644" y="1389888"/>
            <a:ext cx="2103120" cy="868680"/>
          </a:xfrm>
          <a:prstGeom prst="rect">
            <a:avLst/>
          </a:prstGeom>
          <a:solidFill>
            <a:srgbClr val="14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16084" y="1472184"/>
            <a:ext cx="1920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Sliding Window
Sequences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24644" y="2258568"/>
            <a:ext cx="2103120" cy="2825496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816084" y="2359152"/>
            <a:ext cx="1920240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0">
                <a:solidFill>
                  <a:srgbClr val="2C3E50"/>
                </a:solidFill>
                <a:latin typeface="Calibri"/>
              </a:rPr>
              <a:t>seq_len = 45 days
X: (N, 45, 4)
y: (N, 4)
One step ahead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System Features — Interactive Web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" y="859536"/>
            <a:ext cx="2697480" cy="54864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4068" y="950976"/>
            <a:ext cx="2514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📈  Predictions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" y="1408176"/>
            <a:ext cx="2697480" cy="4206240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9788" y="1572768"/>
            <a:ext cx="242316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50" b="1">
                <a:solidFill>
                  <a:srgbClr val="1F77B4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Side-by-side line charts: Actual vs. Predicted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1F77B4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Separate chart per model per variable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1F77B4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Both stations in one run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1F77B4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Colour-coded model legends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4700" y="859536"/>
            <a:ext cx="2697480" cy="548640"/>
          </a:xfrm>
          <a:prstGeom prst="rect">
            <a:avLst/>
          </a:prstGeom>
          <a:solidFill>
            <a:srgbClr val="FF7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06140" y="950976"/>
            <a:ext cx="2514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📊  Metrics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4700" y="1408176"/>
            <a:ext cx="2697480" cy="4206240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51860" y="1572768"/>
            <a:ext cx="242316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50" b="1">
                <a:solidFill>
                  <a:srgbClr val="FF7F0E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Numeric table: MSE, MAE, R², Accuracy (%)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7F0E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Interactive bar charts — switch between metrics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7F0E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'Best Model' summary table per variable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FF7F0E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Colour-coded model bars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859536"/>
            <a:ext cx="2697480" cy="54864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68212" y="950976"/>
            <a:ext cx="2514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🔮  Forecast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6772" y="1408176"/>
            <a:ext cx="2697480" cy="4206240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13932" y="1572768"/>
            <a:ext cx="242316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50" b="1">
                <a:solidFill>
                  <a:srgbClr val="2CA02C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7-day rolling day-by-day forecast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2CA02C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Check-box model &amp; variable selection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2CA02C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Day-labeled table + multi-model line chart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2CA02C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Starts day after last available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38844" y="859536"/>
            <a:ext cx="2697480" cy="548640"/>
          </a:xfrm>
          <a:prstGeom prst="rect">
            <a:avLst/>
          </a:prstGeom>
          <a:solidFill>
            <a:srgbClr val="946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0284" y="950976"/>
            <a:ext cx="2514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⬇️  Download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38844" y="1408176"/>
            <a:ext cx="2697480" cy="4206240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76004" y="1572768"/>
            <a:ext cx="242316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50" b="1">
                <a:solidFill>
                  <a:srgbClr val="9467BD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Export full results as Excel workbook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9467BD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Separate sheet per station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9467BD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Predictions &amp; metrics included</a:t>
            </a:r>
          </a:p>
          <a:p>
            <a:pPr>
              <a:spcBef>
                <a:spcPts val="1000"/>
              </a:spcBef>
            </a:pPr>
            <a:r>
              <a:rPr sz="1250" b="1">
                <a:solidFill>
                  <a:srgbClr val="9467BD"/>
                </a:solidFill>
                <a:latin typeface="Calibri"/>
              </a:rPr>
              <a:t>▸  </a:t>
            </a:r>
            <a:r>
              <a:rPr sz="1350">
                <a:solidFill>
                  <a:srgbClr val="2C3E50"/>
                </a:solidFill>
                <a:latin typeface="Calibri"/>
              </a:rPr>
              <a:t>One-click download button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Evaluation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" y="859536"/>
            <a:ext cx="2651760" cy="56692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9204" y="950976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Accuracy (%)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" y="1426464"/>
            <a:ext cx="2651760" cy="877824"/>
          </a:xfrm>
          <a:prstGeom prst="rect">
            <a:avLst/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0644" y="1499616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471A3"/>
                </a:solidFill>
                <a:latin typeface="Calibri"/>
              </a:rPr>
              <a:t>Acc = max(0,  100 − MAPE)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" y="193852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DB5BD"/>
                </a:solidFill>
                <a:latin typeface="Calibri"/>
              </a:rPr>
              <a:t>MAPE = mean |y − ŷ| / |y|  × 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" y="2304288"/>
            <a:ext cx="2651760" cy="3218688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" y="2450592"/>
            <a:ext cx="2377440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C3E50"/>
                </a:solidFill>
                <a:latin typeface="Calibri"/>
              </a:rPr>
              <a:t>Primary interpretability metric. Intuitive percentage score. Zero-actual values excluded from MAPE to avoid division by zero.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2132" y="859536"/>
            <a:ext cx="2651760" cy="56692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42132" y="950976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42132" y="1426464"/>
            <a:ext cx="2651760" cy="877824"/>
          </a:xfrm>
          <a:prstGeom prst="rect">
            <a:avLst/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33572" y="1499616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7A4A"/>
                </a:solidFill>
                <a:latin typeface="Calibri"/>
              </a:rPr>
              <a:t>MSE = (1/n) Σ (y − ŷ)²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3572" y="193852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DB5BD"/>
                </a:solidFill>
                <a:latin typeface="Calibri"/>
              </a:rPr>
              <a:t>Mean Squared Error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2132" y="2304288"/>
            <a:ext cx="2651760" cy="3218688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79292" y="2450592"/>
            <a:ext cx="2377440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C3E50"/>
                </a:solidFill>
                <a:latin typeface="Calibri"/>
              </a:rPr>
              <a:t>Penalises large errors heavily due to squaring. Sensitive to outlier predictions — relevant for extreme precipitation events.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5060" y="859536"/>
            <a:ext cx="2651760" cy="56692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95060" y="950976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60" y="1426464"/>
            <a:ext cx="2651760" cy="877824"/>
          </a:xfrm>
          <a:prstGeom prst="rect">
            <a:avLst/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6500" y="1499616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D3C98"/>
                </a:solidFill>
                <a:latin typeface="Calibri"/>
              </a:rPr>
              <a:t>MAE = (1/n) Σ |y − ŷ|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193852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DB5BD"/>
                </a:solidFill>
                <a:latin typeface="Calibri"/>
              </a:rPr>
              <a:t>Mean Absolute Error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5060" y="2304288"/>
            <a:ext cx="2651760" cy="3218688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32220" y="2450592"/>
            <a:ext cx="2377440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C3E50"/>
                </a:solidFill>
                <a:latin typeface="Calibri"/>
              </a:rPr>
              <a:t>Robust to outliers. Directly interpretable in the original unit (mm, °C, km/h, hPa). Paired with MSE to diagnose outlier sensitivity.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47988" y="859536"/>
            <a:ext cx="265176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47988" y="950976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47988" y="1426464"/>
            <a:ext cx="2651760" cy="877824"/>
          </a:xfrm>
          <a:prstGeom prst="rect">
            <a:avLst/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39428" y="1499616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R² = 1 − Σ(y−ŷ)² / Σ(y−ȳ)²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9428" y="193852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DB5BD"/>
                </a:solidFill>
                <a:latin typeface="Calibri"/>
              </a:rPr>
              <a:t>Coefficient of Determination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47988" y="2304288"/>
            <a:ext cx="2651760" cy="3218688"/>
          </a:xfrm>
          <a:prstGeom prst="rect">
            <a:avLst/>
          </a:prstGeom>
          <a:solidFill>
            <a:srgbClr val="F4F6F7"/>
          </a:solidFill>
          <a:ln w="508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85148" y="2450592"/>
            <a:ext cx="2377440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C3E50"/>
                </a:solidFill>
                <a:latin typeface="Calibri"/>
              </a:rPr>
              <a:t>Proportion of variance explained. R²=1 is perfect; R²=0 means the model is no better than predicting the mean; negative values indicate poor fit.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Results — Predictions Tab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5953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WHAT THE TAB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16736"/>
            <a:ext cx="3840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Line chart for each variable per station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Actual values (ground truth from test set)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Predicted values overlaid per model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Models colour-coded consistently across all charts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X-axis: date · Y-axis: physical unit (mm, °C, km/h, hPa)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Separate row per variable, enabling visual diagnosis of
where each model fails or succeeds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70001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EXPECTED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5138928"/>
            <a:ext cx="38404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Calibri"/>
              </a:rPr>
              <a:t>●  </a:t>
            </a:r>
            <a:r>
              <a:rPr sz="1300">
                <a:solidFill>
                  <a:srgbClr val="2C3E50"/>
                </a:solidFill>
                <a:latin typeface="Calibri"/>
              </a:rPr>
              <a:t>Temperature &amp; Pressure: highest accuracy across all models</a:t>
            </a:r>
          </a:p>
          <a:p>
            <a:pPr algn="l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Calibri"/>
              </a:rPr>
              <a:t>●  </a:t>
            </a:r>
            <a:r>
              <a:rPr sz="1300">
                <a:solidFill>
                  <a:srgbClr val="2C3E50"/>
                </a:solidFill>
                <a:latin typeface="Calibri"/>
              </a:rPr>
              <a:t>Precipitation: hardest to predict — sparsity &amp; extremes</a:t>
            </a:r>
          </a:p>
          <a:p>
            <a:pPr algn="l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Calibri"/>
              </a:rPr>
              <a:t>●  </a:t>
            </a:r>
            <a:r>
              <a:rPr sz="1300">
                <a:solidFill>
                  <a:srgbClr val="2C3E50"/>
                </a:solidFill>
                <a:latin typeface="Calibri"/>
              </a:rPr>
              <a:t>GRU / LSTM: outperform RNN and classical methods on most variables</a:t>
            </a:r>
          </a:p>
          <a:p>
            <a:pPr algn="l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Calibri"/>
              </a:rPr>
              <a:t>●  </a:t>
            </a:r>
            <a:r>
              <a:rPr sz="1300">
                <a:solidFill>
                  <a:srgbClr val="2C3E50"/>
                </a:solidFill>
                <a:latin typeface="Calibri"/>
              </a:rPr>
              <a:t>ARIMA: competitive on smooth variables (temp, pres)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859536"/>
            <a:ext cx="7205472" cy="5120640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859536"/>
            <a:ext cx="7205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  Sample — Precipitation (prcp)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243584"/>
            <a:ext cx="7022592" cy="2240280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36592" y="1353312"/>
            <a:ext cx="6885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DB5BD"/>
                </a:solidFill>
                <a:latin typeface="Calibri"/>
              </a:rPr>
              <a:t>Precipitation (mm)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3630168"/>
            <a:ext cx="219456" cy="10972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65192" y="355701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Actual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86984" y="3630168"/>
            <a:ext cx="219456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43016" y="355701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GRU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64808" y="3630168"/>
            <a:ext cx="219456" cy="109728"/>
          </a:xfrm>
          <a:prstGeom prst="rect">
            <a:avLst/>
          </a:prstGeom>
          <a:solidFill>
            <a:srgbClr val="FF7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355701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LSTM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42632" y="3630168"/>
            <a:ext cx="219456" cy="109728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98664" y="355701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RNN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0456" y="3630168"/>
            <a:ext cx="219456" cy="109728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76488" y="355701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LR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3630168"/>
            <a:ext cx="219456" cy="109728"/>
          </a:xfrm>
          <a:prstGeom prst="rect">
            <a:avLst/>
          </a:prstGeom>
          <a:solidFill>
            <a:srgbClr val="946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54312" y="355701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ARIMA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867912"/>
            <a:ext cx="7205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  Sample — Temperature (°C)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4215384"/>
            <a:ext cx="7022592" cy="1719072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36592" y="4306824"/>
            <a:ext cx="6885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DB5BD"/>
                </a:solidFill>
                <a:latin typeface="Calibri"/>
              </a:rPr>
              <a:t>Temperature (°C)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6025896"/>
            <a:ext cx="7022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DB5BD"/>
                </a:solidFill>
                <a:latin typeface="Calibri"/>
              </a:rPr>
              <a:t>[ Actual charts generated after running the analysis on the Streamlit app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Results — Metrics Tab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5953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METRICS TAB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16736"/>
            <a:ext cx="38404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Numeric table: all 4 metrics × 5 models per variable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Best model highlighted per metric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Radio selector: switch chart between Accuracy / R² / MSE / MAE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Vertical bar chart — one bar per model, colour-coded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X-axis: model names · Y-axis: metric value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Separate chart panel per station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05993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INTERPRETATION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498848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C3E50"/>
                </a:solidFill>
                <a:latin typeface="Calibri"/>
              </a:rPr>
              <a:t>Higher Accuracy (%) and R² → better fit
Lower MSE and MAE → smaller prediction error
Compare across models within the same variable to identify the strongest performer for each forecasting task.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859536"/>
            <a:ext cx="7205472" cy="5120640"/>
          </a:xfrm>
          <a:prstGeom prst="rect">
            <a:avLst/>
          </a:prstGeom>
          <a:solidFill>
            <a:srgbClr val="F4F6F7"/>
          </a:solidFill>
          <a:ln w="635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81728" y="950976"/>
            <a:ext cx="69860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Accuracy (%)  —  Temperature  |  Baguio 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2624328"/>
            <a:ext cx="914400" cy="294436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6320" y="231343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77B4"/>
                </a:solidFill>
                <a:latin typeface="Calibri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5614416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3E50"/>
                </a:solidFill>
                <a:latin typeface="Calibri"/>
              </a:rPr>
              <a:t>GRU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2" y="2656332"/>
            <a:ext cx="914400" cy="2912364"/>
          </a:xfrm>
          <a:prstGeom prst="rect">
            <a:avLst/>
          </a:prstGeom>
          <a:solidFill>
            <a:srgbClr val="FF7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16752" y="2345436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7F0E"/>
                </a:solidFill>
                <a:latin typeface="Calibri"/>
              </a:rPr>
              <a:t>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5614416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3E50"/>
                </a:solidFill>
                <a:latin typeface="Calibri"/>
              </a:rPr>
              <a:t>LSTM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87184" y="2784348"/>
            <a:ext cx="914400" cy="2784348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87184" y="24734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A02C"/>
                </a:solidFill>
                <a:latin typeface="Calibri"/>
              </a:rPr>
              <a:t>87%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87184" y="5614416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3E50"/>
                </a:solidFill>
                <a:latin typeface="Calibri"/>
              </a:rPr>
              <a:t>RNN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2912364"/>
            <a:ext cx="914400" cy="2656332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57616" y="2601468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62728"/>
                </a:solidFill>
                <a:latin typeface="Calibri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5614416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3E50"/>
                </a:solidFill>
                <a:latin typeface="Calibri"/>
              </a:rPr>
              <a:t>LR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8048" y="2720340"/>
            <a:ext cx="914400" cy="2848356"/>
          </a:xfrm>
          <a:prstGeom prst="rect">
            <a:avLst/>
          </a:prstGeom>
          <a:solidFill>
            <a:srgbClr val="946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28048" y="2409444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467BD"/>
                </a:solidFill>
                <a:latin typeface="Calibri"/>
              </a:rPr>
              <a:t>89%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28048" y="5614416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3E50"/>
                </a:solidFill>
                <a:latin typeface="Calibri"/>
              </a:rPr>
              <a:t>ARIMA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1271016"/>
            <a:ext cx="18288" cy="361188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800600" y="5568696"/>
            <a:ext cx="5029200" cy="1828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81728" y="5916168"/>
            <a:ext cx="6986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DB5BD"/>
                </a:solidFill>
                <a:latin typeface="Calibri"/>
              </a:rPr>
              <a:t>[ Illustrative values — run the app for real results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7-Day Weather Forecast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59536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98448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471A3"/>
                </a:solidFill>
                <a:latin typeface="Calibri"/>
              </a:rPr>
              <a:t>  1.  </a:t>
            </a:r>
            <a:r>
              <a:rPr sz="1400">
                <a:solidFill>
                  <a:srgbClr val="2C3E50"/>
                </a:solidFill>
                <a:latin typeface="Calibri"/>
              </a:rPr>
              <a:t>Select station (Baguio / Manila)</a:t>
            </a:r>
          </a:p>
          <a:p>
            <a:pPr algn="l">
              <a:spcBef>
                <a:spcPts val="1200"/>
              </a:spcBef>
            </a:pPr>
            <a:r>
              <a:rPr sz="1400" b="1">
                <a:solidFill>
                  <a:srgbClr val="2471A3"/>
                </a:solidFill>
                <a:latin typeface="Calibri"/>
              </a:rPr>
              <a:t>  2.  </a:t>
            </a:r>
            <a:r>
              <a:rPr sz="1400">
                <a:solidFill>
                  <a:srgbClr val="2C3E50"/>
                </a:solidFill>
                <a:latin typeface="Calibri"/>
              </a:rPr>
              <a:t>Tick the models to include</a:t>
            </a:r>
          </a:p>
          <a:p>
            <a:pPr algn="l">
              <a:spcBef>
                <a:spcPts val="1200"/>
              </a:spcBef>
            </a:pPr>
            <a:r>
              <a:rPr sz="1400" b="1">
                <a:solidFill>
                  <a:srgbClr val="2471A3"/>
                </a:solidFill>
                <a:latin typeface="Calibri"/>
              </a:rPr>
              <a:t>  3.  </a:t>
            </a:r>
            <a:r>
              <a:rPr sz="1400">
                <a:solidFill>
                  <a:srgbClr val="2C3E50"/>
                </a:solidFill>
                <a:latin typeface="Calibri"/>
              </a:rPr>
              <a:t>Tick the variables to forecast</a:t>
            </a:r>
          </a:p>
          <a:p>
            <a:pPr algn="l">
              <a:spcBef>
                <a:spcPts val="1200"/>
              </a:spcBef>
            </a:pPr>
            <a:r>
              <a:rPr sz="1400" b="1">
                <a:solidFill>
                  <a:srgbClr val="2471A3"/>
                </a:solidFill>
                <a:latin typeface="Calibri"/>
              </a:rPr>
              <a:t>  4.  </a:t>
            </a:r>
            <a:r>
              <a:rPr sz="1400">
                <a:solidFill>
                  <a:srgbClr val="2C3E50"/>
                </a:solidFill>
                <a:latin typeface="Calibri"/>
              </a:rPr>
              <a:t>Click Generate 7-Day Forecast</a:t>
            </a:r>
          </a:p>
          <a:p>
            <a:pPr algn="l">
              <a:spcBef>
                <a:spcPts val="1200"/>
              </a:spcBef>
            </a:pPr>
            <a:r>
              <a:rPr sz="1400" b="1">
                <a:solidFill>
                  <a:srgbClr val="2471A3"/>
                </a:solidFill>
                <a:latin typeface="Calibri"/>
              </a:rPr>
              <a:t>  5.  </a:t>
            </a:r>
            <a:r>
              <a:rPr sz="1400">
                <a:solidFill>
                  <a:srgbClr val="2C3E50"/>
                </a:solidFill>
                <a:latin typeface="Calibri"/>
              </a:rPr>
              <a:t>View day-labeled table + multi-model line 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94176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TECHNICAL APPROACH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133088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Calibri"/>
              </a:rPr>
              <a:t>●  </a:t>
            </a:r>
            <a:r>
              <a:rPr sz="1300">
                <a:solidFill>
                  <a:srgbClr val="2C3E50"/>
                </a:solidFill>
                <a:latin typeface="Calibri"/>
              </a:rPr>
              <a:t>Loads scalers + model config from results cache</a:t>
            </a:r>
          </a:p>
          <a:p>
            <a:pPr algn="l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Calibri"/>
              </a:rPr>
              <a:t>●  </a:t>
            </a:r>
            <a:r>
              <a:rPr sz="1300">
                <a:solidFill>
                  <a:srgbClr val="2C3E50"/>
                </a:solidFill>
                <a:latin typeface="Calibri"/>
              </a:rPr>
              <a:t>Initialises last 45-day window from test set</a:t>
            </a:r>
          </a:p>
          <a:p>
            <a:pPr algn="l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Calibri"/>
              </a:rPr>
              <a:t>●  </a:t>
            </a:r>
            <a:r>
              <a:rPr sz="1300">
                <a:solidFill>
                  <a:srgbClr val="2C3E50"/>
                </a:solidFill>
                <a:latin typeface="Calibri"/>
              </a:rPr>
              <a:t>Iteratively predicts next day → appends to window</a:t>
            </a:r>
          </a:p>
          <a:p>
            <a:pPr algn="l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Calibri"/>
              </a:rPr>
              <a:t>●  </a:t>
            </a:r>
            <a:r>
              <a:rPr sz="1300">
                <a:solidFill>
                  <a:srgbClr val="2C3E50"/>
                </a:solidFill>
                <a:latin typeface="Calibri"/>
              </a:rPr>
              <a:t>ARIMA: .update(test_vals) then .predict(7)</a:t>
            </a:r>
          </a:p>
          <a:p>
            <a:pPr algn="l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Calibri"/>
              </a:rPr>
              <a:t>●  </a:t>
            </a:r>
            <a:r>
              <a:rPr sz="1300">
                <a:solidFill>
                  <a:srgbClr val="2C3E50"/>
                </a:solidFill>
                <a:latin typeface="Calibri"/>
              </a:rPr>
              <a:t>LR: same rolling-window inference</a:t>
            </a:r>
          </a:p>
          <a:p>
            <a:pPr algn="l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Calibri"/>
              </a:rPr>
              <a:t>●  </a:t>
            </a:r>
            <a:r>
              <a:rPr sz="1300">
                <a:solidFill>
                  <a:srgbClr val="2C3E50"/>
                </a:solidFill>
                <a:latin typeface="Calibri"/>
              </a:rPr>
              <a:t>Inverse-transforms all outputs to original units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859536"/>
            <a:ext cx="6336792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50408" y="932688"/>
            <a:ext cx="6117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Forecast — Precipitation (mm)  |  Baguio 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1316736"/>
            <a:ext cx="1005840" cy="42062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95544" y="1389888"/>
            <a:ext cx="896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1316736"/>
            <a:ext cx="1371600" cy="42062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01384" y="1389888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16736"/>
            <a:ext cx="822960" cy="42062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72984" y="138988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1316736"/>
            <a:ext cx="822960" cy="42062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95944" y="138988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LSTM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64040" y="1316736"/>
            <a:ext cx="822960" cy="42062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18904" y="138988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ARIMA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1737360"/>
            <a:ext cx="100584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95544" y="1810512"/>
            <a:ext cx="896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Monday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1737360"/>
            <a:ext cx="137160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01384" y="1810512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Jun 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1737360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72984" y="181051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F77B4"/>
                </a:solidFill>
                <a:latin typeface="Calibri"/>
              </a:rPr>
              <a:t>1.2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1737360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95944" y="181051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7F0E"/>
                </a:solidFill>
                <a:latin typeface="Calibri"/>
              </a:rPr>
              <a:t>0.9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64040" y="1737360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518904" y="181051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9467BD"/>
                </a:solidFill>
                <a:latin typeface="Calibri"/>
              </a:rPr>
              <a:t>1.5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2157984"/>
            <a:ext cx="10058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95544" y="2231136"/>
            <a:ext cx="896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Tuesday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2157984"/>
            <a:ext cx="13716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01384" y="2231136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Jun 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2157984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72984" y="223113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F77B4"/>
                </a:solidFill>
                <a:latin typeface="Calibri"/>
              </a:rPr>
              <a:t>4.8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41080" y="2157984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95944" y="223113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7F0E"/>
                </a:solidFill>
                <a:latin typeface="Calibri"/>
              </a:rPr>
              <a:t>3.2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64040" y="2157984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518904" y="223113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9467BD"/>
                </a:solidFill>
                <a:latin typeface="Calibri"/>
              </a:rPr>
              <a:t>5.1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40680" y="2578608"/>
            <a:ext cx="100584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95544" y="2651760"/>
            <a:ext cx="896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Wednesday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46520" y="2578608"/>
            <a:ext cx="137160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01384" y="2651760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Jun 08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18120" y="2578608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872984" y="265176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F77B4"/>
                </a:solidFill>
                <a:latin typeface="Calibri"/>
              </a:rPr>
              <a:t>12.3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80" y="2578608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695944" y="265176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7F0E"/>
                </a:solidFill>
                <a:latin typeface="Calibri"/>
              </a:rPr>
              <a:t>10.7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64040" y="2578608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518904" y="2651760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9467BD"/>
                </a:solidFill>
                <a:latin typeface="Calibri"/>
              </a:rPr>
              <a:t>11.9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40680" y="2999232"/>
            <a:ext cx="10058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95544" y="3072384"/>
            <a:ext cx="896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Thursday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46520" y="2999232"/>
            <a:ext cx="13716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501384" y="3072384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Jun 09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18120" y="2999232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872984" y="307238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F77B4"/>
                </a:solidFill>
                <a:latin typeface="Calibri"/>
              </a:rPr>
              <a:t>2.1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41080" y="2999232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695944" y="307238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7F0E"/>
                </a:solidFill>
                <a:latin typeface="Calibri"/>
              </a:rPr>
              <a:t>1.8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64040" y="2999232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518904" y="307238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9467BD"/>
                </a:solidFill>
                <a:latin typeface="Calibri"/>
              </a:rPr>
              <a:t>2.4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0680" y="3419856"/>
            <a:ext cx="100584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495544" y="3493008"/>
            <a:ext cx="896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Friday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46520" y="3419856"/>
            <a:ext cx="137160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501384" y="3493008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Jun 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18120" y="3419856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872984" y="349300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F77B4"/>
                </a:solidFill>
                <a:latin typeface="Calibri"/>
              </a:rPr>
              <a:t>0.3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641080" y="3419856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695944" y="349300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7F0E"/>
                </a:solidFill>
                <a:latin typeface="Calibri"/>
              </a:rPr>
              <a:t>0.4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64040" y="3419856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518904" y="3493008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9467BD"/>
                </a:solidFill>
                <a:latin typeface="Calibri"/>
              </a:rPr>
              <a:t>0.6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40680" y="3840480"/>
            <a:ext cx="10058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495544" y="3913632"/>
            <a:ext cx="896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Saturday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46520" y="3840480"/>
            <a:ext cx="13716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501384" y="3913632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Jun 11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818120" y="3840480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872984" y="391363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F77B4"/>
                </a:solidFill>
                <a:latin typeface="Calibri"/>
              </a:rPr>
              <a:t>8.7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41080" y="3840480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695944" y="391363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7F0E"/>
                </a:solidFill>
                <a:latin typeface="Calibri"/>
              </a:rPr>
              <a:t>7.2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464040" y="3840480"/>
            <a:ext cx="8229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9518904" y="3913632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9467BD"/>
                </a:solidFill>
                <a:latin typeface="Calibri"/>
              </a:rPr>
              <a:t>9.0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40680" y="4261104"/>
            <a:ext cx="100584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495544" y="4334256"/>
            <a:ext cx="896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Sunday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46520" y="4261104"/>
            <a:ext cx="137160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501384" y="4334256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C3E50"/>
                </a:solidFill>
                <a:latin typeface="Calibri"/>
              </a:rPr>
              <a:t>Jun 12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18120" y="4261104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7872984" y="433425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F77B4"/>
                </a:solidFill>
                <a:latin typeface="Calibri"/>
              </a:rPr>
              <a:t>5.4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641080" y="4261104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695944" y="433425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7F0E"/>
                </a:solidFill>
                <a:latin typeface="Calibri"/>
              </a:rPr>
              <a:t>4.9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464040" y="4261104"/>
            <a:ext cx="822960" cy="420624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518904" y="4334256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9467BD"/>
                </a:solidFill>
                <a:latin typeface="Calibri"/>
              </a:rPr>
              <a:t>6.1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40680" y="4773168"/>
            <a:ext cx="63367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DB5BD"/>
                </a:solidFill>
                <a:latin typeface="Calibri"/>
              </a:rPr>
              <a:t>[ Sample values for illustration — actual forecasts generated from cached model data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59536"/>
            <a:ext cx="164592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6072" y="859536"/>
            <a:ext cx="5381244" cy="457200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91440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Python 3.10+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914400"/>
            <a:ext cx="29672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Core language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08176"/>
            <a:ext cx="164592" cy="4572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6072" y="1408176"/>
            <a:ext cx="5381244" cy="457200"/>
          </a:xfrm>
          <a:prstGeom prst="rect">
            <a:avLst/>
          </a:prstGeom>
          <a:solidFill>
            <a:srgbClr val="F4F6F7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14630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PyTorch 2.x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1463040"/>
            <a:ext cx="29672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GRU · LSTM · SimpleRNN training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56816"/>
            <a:ext cx="164592" cy="457200"/>
          </a:xfrm>
          <a:prstGeom prst="rect">
            <a:avLst/>
          </a:prstGeom>
          <a:solidFill>
            <a:srgbClr val="946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6072" y="1956816"/>
            <a:ext cx="5381244" cy="457200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0116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pmdarima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2011680"/>
            <a:ext cx="29672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auto_arima — AIC, stepwise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505456"/>
            <a:ext cx="164592" cy="45720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6072" y="2505456"/>
            <a:ext cx="5381244" cy="457200"/>
          </a:xfrm>
          <a:prstGeom prst="rect">
            <a:avLst/>
          </a:prstGeom>
          <a:solidFill>
            <a:srgbClr val="F4F6F7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256032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scikit-learn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53512" y="2560320"/>
            <a:ext cx="29672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LinearRegression · MinMaxScaler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054096"/>
            <a:ext cx="164592" cy="457200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76072" y="3054096"/>
            <a:ext cx="5381244" cy="457200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31089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Meteostat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3512" y="3108960"/>
            <a:ext cx="29672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Historical daily weather 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1636" y="859536"/>
            <a:ext cx="164592" cy="457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96228" y="859536"/>
            <a:ext cx="5381244" cy="457200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05956" y="91440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pandas · NumPy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3668" y="914400"/>
            <a:ext cx="29672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Data wrangling &amp; array ops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1408176"/>
            <a:ext cx="164592" cy="45720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96228" y="1408176"/>
            <a:ext cx="5381244" cy="457200"/>
          </a:xfrm>
          <a:prstGeom prst="rect">
            <a:avLst/>
          </a:prstGeom>
          <a:solidFill>
            <a:srgbClr val="F4F6F7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05956" y="14630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Streamlit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3668" y="1463040"/>
            <a:ext cx="29672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Interactive web application UI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1636" y="1956816"/>
            <a:ext cx="164592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96228" y="1956816"/>
            <a:ext cx="5381244" cy="457200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05956" y="20116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Matplotlib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3668" y="2011680"/>
            <a:ext cx="29672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Prediction &amp; metrics charts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31636" y="2505456"/>
            <a:ext cx="164592" cy="4572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96228" y="2505456"/>
            <a:ext cx="5381244" cy="457200"/>
          </a:xfrm>
          <a:prstGeom prst="rect">
            <a:avLst/>
          </a:prstGeom>
          <a:solidFill>
            <a:srgbClr val="F4F6F7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05956" y="256032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python-docx · pptx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3668" y="2560320"/>
            <a:ext cx="29672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Document &amp; slide generation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31636" y="3054096"/>
            <a:ext cx="164592" cy="457200"/>
          </a:xfrm>
          <a:prstGeom prst="rect">
            <a:avLst/>
          </a:prstGeom>
          <a:solidFill>
            <a:srgbClr val="764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96228" y="3054096"/>
            <a:ext cx="5381244" cy="457200"/>
          </a:xfrm>
          <a:prstGeom prst="rect">
            <a:avLst/>
          </a:prstGeom>
          <a:solidFill>
            <a:srgbClr val="EAF0FB"/>
          </a:solidFill>
          <a:ln w="3810">
            <a:solidFill>
              <a:srgbClr val="D5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05956" y="31089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CUDA / MPS / CPU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3668" y="3108960"/>
            <a:ext cx="29672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C3E50"/>
                </a:solidFill>
                <a:latin typeface="Calibri"/>
              </a:rPr>
              <a:t>Auto-detected GPU acceleration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767328"/>
            <a:ext cx="11365992" cy="7498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5800" y="3877056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B5BD"/>
                </a:solidFill>
                <a:latin typeface="Calibri"/>
              </a:rPr>
              <a:t>Deployed on  Streamlit Community Cloud  ·  thesis-gru-evaluation-in-weather-forecasting.streamlit.app  ·  Source: github.com/EzekelCastro/Thesis-GRU-Evaluation-in-Weather-Forecasting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58368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92824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B.S. Computer Science  ·  GRU Evaluation in Weather 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4552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DB5BD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5953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KEY CONTRIBUTIONS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98448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End-to-end benchmarking of 5 ML models on Philippine weather data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Station-level comparison: Baguio City (highland) vs Manila (lowland)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Variable Importance analysis: leave-one-out ablation across all targets × both stations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Dynamic variable selection from all 10 Meteostat inputs for flexible evaluation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2471A3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Interactive web system with Variable Importance, forecasting, and cached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69417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71A3"/>
                </a:solidFill>
                <a:latin typeface="Calibri"/>
              </a:rPr>
              <a:t>EXPECTED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133088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GRU expected to outperform SimpleRNN and ARIMA on most variables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1F3864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LSTM competitive — architecture comparison between GRU and LSTM is central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1F3864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Pressure and Temperature: highest model accuracy across all architectures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1F3864"/>
                </a:solidFill>
                <a:latin typeface="Calibri"/>
              </a:rPr>
              <a:t>●  </a:t>
            </a:r>
            <a:r>
              <a:rPr sz="1400">
                <a:solidFill>
                  <a:srgbClr val="2C3E50"/>
                </a:solidFill>
                <a:latin typeface="Calibri"/>
              </a:rPr>
              <a:t>Precipitation remains the most challenging variable to forecast accurately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859536"/>
            <a:ext cx="5605272" cy="51206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024128"/>
            <a:ext cx="5239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DB5BD"/>
                </a:solidFill>
                <a:latin typeface="Calibri"/>
              </a:rPr>
              <a:t>FUTURE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53896"/>
            <a:ext cx="5239512" cy="78638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Incorporate additional stations
(Cebu, Davao, Zamboanga)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350008"/>
            <a:ext cx="5239512" cy="786384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Add Transformer-based model
(Temporal Fusion Transformer)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246120"/>
            <a:ext cx="5239512" cy="78638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Seasonal decomposition as
preprocessing step for prcp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4142232"/>
            <a:ext cx="5239512" cy="786384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Ensemble prediction combining
multiple model outputs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5038344"/>
            <a:ext cx="5239512" cy="786384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Mobile-friendly app with
push notification forecasts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188720"/>
            <a:ext cx="113659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DB5BD"/>
                </a:solidFill>
                <a:latin typeface="Calibri"/>
              </a:rPr>
              <a:t>■  THANK YOU  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783080"/>
            <a:ext cx="1136599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697480" y="2743200"/>
            <a:ext cx="6793992" cy="45720"/>
          </a:xfrm>
          <a:prstGeom prst="rect">
            <a:avLst/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92608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ADC8E0"/>
                </a:solidFill>
                <a:latin typeface="Calibri"/>
              </a:rPr>
              <a:t>Castro, E. M.  ·  Millan, D. J. S.  ·  Mondoñedo, J. 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38144"/>
            <a:ext cx="113659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ADB5BD"/>
                </a:solidFill>
                <a:latin typeface="Calibri"/>
              </a:rPr>
              <a:t>University of the Cordilleras  ·  CITCS  ·  B.S. Computer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783080" y="4023360"/>
            <a:ext cx="862279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65960" y="4187952"/>
            <a:ext cx="8257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DADE8"/>
                </a:solidFill>
                <a:latin typeface="Calibri"/>
              </a:rPr>
              <a:t>🔗  thesis-gru-evaluation-in-weather-forecasting.streamlit.app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4590288"/>
            <a:ext cx="8257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DADE8"/>
                </a:solidFill>
                <a:latin typeface="Calibri"/>
              </a:rPr>
              <a:t>💻  github.com/EzekelCastro/Thesis-GRU-Evaluation-in-Weather-Forecasting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486400"/>
            <a:ext cx="2273198" cy="32918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GRU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84678" y="5486400"/>
            <a:ext cx="2273198" cy="329184"/>
          </a:xfrm>
          <a:prstGeom prst="rect">
            <a:avLst/>
          </a:prstGeom>
          <a:solidFill>
            <a:srgbClr val="FF7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LSTM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7876" y="5486400"/>
            <a:ext cx="2273198" cy="329184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SimpleRNN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31075" y="5486400"/>
            <a:ext cx="2273198" cy="329184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Linear Regression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4273" y="5486400"/>
            <a:ext cx="2273198" cy="329184"/>
          </a:xfrm>
          <a:prstGeom prst="rect">
            <a:avLst/>
          </a:prstGeom>
          <a:solidFill>
            <a:srgbClr val="946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ARIMA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88952" cy="310896"/>
          </a:xfrm>
          <a:prstGeom prst="rect">
            <a:avLst/>
          </a:prstGeom>
          <a:solidFill>
            <a:srgbClr val="172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6592824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DB5BD"/>
                </a:solidFill>
                <a:latin typeface="Calibri"/>
              </a:rPr>
              <a:t>University of the Cordilleras  ·  Baguio City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2242</Words>
  <Application>Microsoft Office PowerPoint</Application>
  <PresentationFormat>Custom</PresentationFormat>
  <Paragraphs>383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EZEKIEL M. CASTRO</cp:lastModifiedBy>
  <cp:revision>2</cp:revision>
  <dcterms:created xsi:type="dcterms:W3CDTF">2013-01-27T09:14:16Z</dcterms:created>
  <dcterms:modified xsi:type="dcterms:W3CDTF">2026-06-10T01:16:30Z</dcterms:modified>
  <cp:category/>
</cp:coreProperties>
</file>